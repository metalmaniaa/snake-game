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tr-TR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tr-TR" sz="2000" spc="-1" strike="noStrike">
                <a:latin typeface="Arial"/>
              </a:rPr>
              <a:t>Click to edit the notes format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tr-TR" sz="1400" spc="-1" strike="noStrike">
                <a:latin typeface="Times New Roman"/>
              </a:rPr>
              <a:t>&lt;header&gt;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tr-TR" sz="1400" spc="-1" strike="noStrike">
                <a:latin typeface="Times New Roman"/>
              </a:rPr>
              <a:t>&lt;date/time&gt;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tr-TR" sz="1400" spc="-1" strike="noStrike">
                <a:latin typeface="Times New Roman"/>
              </a:rPr>
              <a:t>&lt;footer&gt;</a:t>
            </a:r>
            <a:endParaRPr b="0" lang="tr-T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FC4ADEB5-DD2D-4375-A397-DD6C9750219C}" type="slidenum">
              <a:rPr b="0" lang="tr-TR" sz="1400" spc="-1" strike="noStrike">
                <a:latin typeface="Times New Roman"/>
              </a:rPr>
              <a:t>&lt;number&gt;</a:t>
            </a:fld>
            <a:endParaRPr b="0" lang="tr-T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92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9932929A-419F-479D-BF34-5CAE7ED77F52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95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5B56097-8473-4B04-9512-E61D0FC4CDFD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298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BC251974-05E2-40E4-9F33-AE7A9648F214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301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851D13B0-9AF5-4E8C-BA2A-87E037429B2F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304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F26087E9-5519-407B-AB16-B8A35D5DF3FD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307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E6BCE142-533F-4EAA-974A-E752DDF56B26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310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62EEC325-B332-4325-809C-8941743031AE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313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F28EFFB-F12B-4E4D-B7B4-90879CD8FE5E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tr-TR" sz="2000" spc="-1" strike="noStrike">
              <a:latin typeface="Arial"/>
            </a:endParaRPr>
          </a:p>
        </p:txBody>
      </p:sp>
      <p:sp>
        <p:nvSpPr>
          <p:cNvPr id="316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DC05D625-6EF0-4069-B71A-7A0D84D79FCC}" type="slidenum">
              <a:rPr b="0" lang="tr-TR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tr-TR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tr-T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tr-TR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tr-T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tr-T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tr-T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tr-T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tr-T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tr-T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tr-T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tr-T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45" name="CustomShape 1"/>
          <p:cNvSpPr/>
          <p:nvPr/>
        </p:nvSpPr>
        <p:spPr>
          <a:xfrm>
            <a:off x="0" y="-194400"/>
            <a:ext cx="9143640" cy="5143320"/>
          </a:xfrm>
          <a:prstGeom prst="rect">
            <a:avLst/>
          </a:prstGeom>
          <a:solidFill>
            <a:srgbClr val="000000">
              <a:alpha val="58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CustomShape 2"/>
          <p:cNvSpPr/>
          <p:nvPr/>
        </p:nvSpPr>
        <p:spPr>
          <a:xfrm>
            <a:off x="457200" y="1188720"/>
            <a:ext cx="8229240" cy="109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7200" spc="-1" strike="noStrike">
                <a:solidFill>
                  <a:srgbClr val="ffffff"/>
                </a:solidFill>
                <a:latin typeface="Calibri"/>
                <a:ea typeface="Calibri"/>
              </a:rPr>
              <a:t>SmartTrip</a:t>
            </a:r>
            <a:endParaRPr b="0" lang="tr-TR" sz="7200" spc="-1" strike="noStrike">
              <a:latin typeface="Arial"/>
            </a:endParaRPr>
          </a:p>
        </p:txBody>
      </p:sp>
      <p:sp>
        <p:nvSpPr>
          <p:cNvPr id="47" name="CustomShape 3"/>
          <p:cNvSpPr/>
          <p:nvPr/>
        </p:nvSpPr>
        <p:spPr>
          <a:xfrm>
            <a:off x="457200" y="2377440"/>
            <a:ext cx="822924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tr-TR" sz="2400" spc="-1" strike="noStrike">
                <a:solidFill>
                  <a:srgbClr val="e8a838"/>
                </a:solidFill>
                <a:latin typeface="Calibri"/>
                <a:ea typeface="Calibri"/>
              </a:rPr>
              <a:t>Akıllı Gezi Planlama Uygulaması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48" name="CustomShape 4"/>
          <p:cNvSpPr/>
          <p:nvPr/>
        </p:nvSpPr>
        <p:spPr>
          <a:xfrm>
            <a:off x="0" y="4343400"/>
            <a:ext cx="9143640" cy="799920"/>
          </a:xfrm>
          <a:prstGeom prst="rect">
            <a:avLst/>
          </a:prstGeom>
          <a:solidFill>
            <a:srgbClr val="028090">
              <a:alpha val="85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5"/>
          <p:cNvSpPr/>
          <p:nvPr/>
        </p:nvSpPr>
        <p:spPr>
          <a:xfrm>
            <a:off x="365760" y="4416480"/>
            <a:ext cx="8412120" cy="59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700" spc="-1" strike="noStrike">
                <a:solidFill>
                  <a:srgbClr val="ffffff"/>
                </a:solidFill>
                <a:latin typeface="Calibri"/>
                <a:ea typeface="Calibri"/>
              </a:rPr>
              <a:t>Bütçenize · Konumunuza · İlgi Alanlarınıza Göre Kişisel Gezi Planı</a:t>
            </a:r>
            <a:endParaRPr b="0" lang="tr-TR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"/>
          <p:cNvPicPr/>
          <p:nvPr/>
        </p:nvPicPr>
        <p:blipFill>
          <a:blip r:embed="rId1"/>
          <a:srcRect l="30656" t="0" r="30656" b="0"/>
          <a:stretch/>
        </p:blipFill>
        <p:spPr>
          <a:xfrm>
            <a:off x="0" y="0"/>
            <a:ext cx="3657240" cy="5143320"/>
          </a:xfrm>
          <a:prstGeom prst="rect">
            <a:avLst/>
          </a:prstGeom>
          <a:ln>
            <a:noFill/>
          </a:ln>
        </p:spPr>
      </p:pic>
      <p:sp>
        <p:nvSpPr>
          <p:cNvPr id="51" name="CustomShape 1"/>
          <p:cNvSpPr/>
          <p:nvPr/>
        </p:nvSpPr>
        <p:spPr>
          <a:xfrm>
            <a:off x="0" y="0"/>
            <a:ext cx="3657240" cy="514332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2"/>
          <p:cNvSpPr/>
          <p:nvPr/>
        </p:nvSpPr>
        <p:spPr>
          <a:xfrm>
            <a:off x="0" y="1645920"/>
            <a:ext cx="3657240" cy="776880"/>
          </a:xfrm>
          <a:prstGeom prst="rect">
            <a:avLst/>
          </a:prstGeom>
          <a:solidFill>
            <a:srgbClr val="028090">
              <a:alpha val="90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3"/>
          <p:cNvSpPr/>
          <p:nvPr/>
        </p:nvSpPr>
        <p:spPr>
          <a:xfrm>
            <a:off x="137160" y="1710000"/>
            <a:ext cx="338292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2800" spc="-1" strike="noStrike">
                <a:solidFill>
                  <a:srgbClr val="ffffff"/>
                </a:solidFill>
                <a:latin typeface="Calibri"/>
                <a:ea typeface="Calibri"/>
              </a:rPr>
              <a:t>Proje Amacı</a:t>
            </a:r>
            <a:endParaRPr b="0" lang="tr-TR" sz="2800" spc="-1" strike="noStrike">
              <a:latin typeface="Arial"/>
            </a:endParaRPr>
          </a:p>
        </p:txBody>
      </p:sp>
      <p:sp>
        <p:nvSpPr>
          <p:cNvPr id="54" name="CustomShape 4"/>
          <p:cNvSpPr/>
          <p:nvPr/>
        </p:nvSpPr>
        <p:spPr>
          <a:xfrm>
            <a:off x="3931920" y="274320"/>
            <a:ext cx="493740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000" spc="-1" strike="noStrike">
                <a:solidFill>
                  <a:srgbClr val="028090"/>
                </a:solidFill>
                <a:latin typeface="Calibri"/>
                <a:ea typeface="Calibri"/>
              </a:rPr>
              <a:t>Ne Yapıyor?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55" name="CustomShape 5"/>
          <p:cNvSpPr/>
          <p:nvPr/>
        </p:nvSpPr>
        <p:spPr>
          <a:xfrm>
            <a:off x="3931920" y="960120"/>
            <a:ext cx="2239920" cy="1188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88900" dir="8100000" dist="25455" rotWithShape="0">
              <a:srgbClr val="02809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CustomShape 6"/>
          <p:cNvSpPr/>
          <p:nvPr/>
        </p:nvSpPr>
        <p:spPr>
          <a:xfrm>
            <a:off x="3931920" y="960120"/>
            <a:ext cx="63720" cy="1188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ustomShape 7"/>
          <p:cNvSpPr/>
          <p:nvPr/>
        </p:nvSpPr>
        <p:spPr>
          <a:xfrm>
            <a:off x="4069080" y="1069920"/>
            <a:ext cx="45684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🏨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58" name="CustomShape 8"/>
          <p:cNvSpPr/>
          <p:nvPr/>
        </p:nvSpPr>
        <p:spPr>
          <a:xfrm>
            <a:off x="4069080" y="1508760"/>
            <a:ext cx="202968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Bütçeye uygun otel rezervasyonu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59" name="CustomShape 9"/>
          <p:cNvSpPr/>
          <p:nvPr/>
        </p:nvSpPr>
        <p:spPr>
          <a:xfrm>
            <a:off x="6355080" y="960120"/>
            <a:ext cx="2239920" cy="1188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88900" dir="8100000" dist="25455" rotWithShape="0">
              <a:srgbClr val="02809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CustomShape 10"/>
          <p:cNvSpPr/>
          <p:nvPr/>
        </p:nvSpPr>
        <p:spPr>
          <a:xfrm>
            <a:off x="6355080" y="960120"/>
            <a:ext cx="63720" cy="1188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11"/>
          <p:cNvSpPr/>
          <p:nvPr/>
        </p:nvSpPr>
        <p:spPr>
          <a:xfrm>
            <a:off x="6492240" y="1069920"/>
            <a:ext cx="45684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🍽️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62" name="CustomShape 12"/>
          <p:cNvSpPr/>
          <p:nvPr/>
        </p:nvSpPr>
        <p:spPr>
          <a:xfrm>
            <a:off x="6492240" y="1508760"/>
            <a:ext cx="202968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Restoran önerileri ve günlük öğün planı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63" name="CustomShape 13"/>
          <p:cNvSpPr/>
          <p:nvPr/>
        </p:nvSpPr>
        <p:spPr>
          <a:xfrm>
            <a:off x="3931920" y="2331720"/>
            <a:ext cx="2239920" cy="1188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88900" dir="8100000" dist="25455" rotWithShape="0">
              <a:srgbClr val="02809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CustomShape 14"/>
          <p:cNvSpPr/>
          <p:nvPr/>
        </p:nvSpPr>
        <p:spPr>
          <a:xfrm>
            <a:off x="3931920" y="2331720"/>
            <a:ext cx="63720" cy="1188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CustomShape 15"/>
          <p:cNvSpPr/>
          <p:nvPr/>
        </p:nvSpPr>
        <p:spPr>
          <a:xfrm>
            <a:off x="4069080" y="2441520"/>
            <a:ext cx="45684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🗺️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66" name="CustomShape 16"/>
          <p:cNvSpPr/>
          <p:nvPr/>
        </p:nvSpPr>
        <p:spPr>
          <a:xfrm>
            <a:off x="4069080" y="2880360"/>
            <a:ext cx="202968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Trafik durumuna göre akıllı rota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67" name="CustomShape 17"/>
          <p:cNvSpPr/>
          <p:nvPr/>
        </p:nvSpPr>
        <p:spPr>
          <a:xfrm>
            <a:off x="6355080" y="2331720"/>
            <a:ext cx="2239920" cy="1188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88900" dir="8100000" dist="25455" rotWithShape="0">
              <a:srgbClr val="02809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CustomShape 18"/>
          <p:cNvSpPr/>
          <p:nvPr/>
        </p:nvSpPr>
        <p:spPr>
          <a:xfrm>
            <a:off x="6355080" y="2331720"/>
            <a:ext cx="63720" cy="1188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CustomShape 19"/>
          <p:cNvSpPr/>
          <p:nvPr/>
        </p:nvSpPr>
        <p:spPr>
          <a:xfrm>
            <a:off x="6492240" y="2441520"/>
            <a:ext cx="45684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🕐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70" name="CustomShape 20"/>
          <p:cNvSpPr/>
          <p:nvPr/>
        </p:nvSpPr>
        <p:spPr>
          <a:xfrm>
            <a:off x="6492240" y="2880360"/>
            <a:ext cx="202968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Açılış saatlerine uygun gezi planı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71" name="CustomShape 21"/>
          <p:cNvSpPr/>
          <p:nvPr/>
        </p:nvSpPr>
        <p:spPr>
          <a:xfrm>
            <a:off x="3931920" y="3703320"/>
            <a:ext cx="2239920" cy="1188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88900" dir="8100000" dist="25455" rotWithShape="0">
              <a:srgbClr val="02809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CustomShape 22"/>
          <p:cNvSpPr/>
          <p:nvPr/>
        </p:nvSpPr>
        <p:spPr>
          <a:xfrm>
            <a:off x="3931920" y="3703320"/>
            <a:ext cx="63720" cy="1188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23"/>
          <p:cNvSpPr/>
          <p:nvPr/>
        </p:nvSpPr>
        <p:spPr>
          <a:xfrm>
            <a:off x="4069080" y="3813120"/>
            <a:ext cx="45684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74" name="CustomShape 24"/>
          <p:cNvSpPr/>
          <p:nvPr/>
        </p:nvSpPr>
        <p:spPr>
          <a:xfrm>
            <a:off x="4069080" y="4251960"/>
            <a:ext cx="202968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Saatlik günlük program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75" name="CustomShape 25"/>
          <p:cNvSpPr/>
          <p:nvPr/>
        </p:nvSpPr>
        <p:spPr>
          <a:xfrm>
            <a:off x="6355080" y="3703320"/>
            <a:ext cx="2239920" cy="1188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88900" dir="8100000" dist="25455" rotWithShape="0">
              <a:srgbClr val="02809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CustomShape 26"/>
          <p:cNvSpPr/>
          <p:nvPr/>
        </p:nvSpPr>
        <p:spPr>
          <a:xfrm>
            <a:off x="6355080" y="3703320"/>
            <a:ext cx="63720" cy="1188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CustomShape 27"/>
          <p:cNvSpPr/>
          <p:nvPr/>
        </p:nvSpPr>
        <p:spPr>
          <a:xfrm>
            <a:off x="6492240" y="3813120"/>
            <a:ext cx="45684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2000" spc="-1" strike="noStrike">
                <a:solidFill>
                  <a:srgbClr val="000000"/>
                </a:solidFill>
                <a:latin typeface="Calibri"/>
              </a:rPr>
              <a:t>🎯</a:t>
            </a:r>
            <a:endParaRPr b="0" lang="tr-TR" sz="2000" spc="-1" strike="noStrike">
              <a:latin typeface="Arial"/>
            </a:endParaRPr>
          </a:p>
        </p:txBody>
      </p:sp>
      <p:sp>
        <p:nvSpPr>
          <p:cNvPr id="78" name="CustomShape 28"/>
          <p:cNvSpPr/>
          <p:nvPr/>
        </p:nvSpPr>
        <p:spPr>
          <a:xfrm>
            <a:off x="6492240" y="4251960"/>
            <a:ext cx="202968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Alternatif aktivite önerileri</a:t>
            </a:r>
            <a:endParaRPr b="0" lang="tr-T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57200" y="201240"/>
            <a:ext cx="822924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400" spc="-1" strike="noStrike">
                <a:solidFill>
                  <a:srgbClr val="ffffff"/>
                </a:solidFill>
                <a:latin typeface="Calibri"/>
                <a:ea typeface="Calibri"/>
              </a:rPr>
              <a:t>4 Temel Özellik</a:t>
            </a:r>
            <a:endParaRPr b="0" lang="tr-TR" sz="3400" spc="-1" strike="noStrike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3566160" y="932760"/>
            <a:ext cx="2011320" cy="63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CustomShape 3"/>
          <p:cNvSpPr/>
          <p:nvPr/>
        </p:nvSpPr>
        <p:spPr>
          <a:xfrm>
            <a:off x="228600" y="1143000"/>
            <a:ext cx="2029680" cy="365724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27000" dir="8100000" dist="37674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CustomShape 4"/>
          <p:cNvSpPr/>
          <p:nvPr/>
        </p:nvSpPr>
        <p:spPr>
          <a:xfrm>
            <a:off x="228600" y="1143000"/>
            <a:ext cx="2029680" cy="63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CustomShape 5"/>
          <p:cNvSpPr/>
          <p:nvPr/>
        </p:nvSpPr>
        <p:spPr>
          <a:xfrm>
            <a:off x="356760" y="1307520"/>
            <a:ext cx="63972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600" spc="-1" strike="noStrike">
                <a:solidFill>
                  <a:srgbClr val="028090"/>
                </a:solidFill>
                <a:latin typeface="Calibri"/>
                <a:ea typeface="Calibri"/>
              </a:rPr>
              <a:t>01</a:t>
            </a:r>
            <a:endParaRPr b="0" lang="tr-TR" sz="2600" spc="-1" strike="noStrike">
              <a:latin typeface="Arial"/>
            </a:endParaRPr>
          </a:p>
        </p:txBody>
      </p:sp>
      <p:sp>
        <p:nvSpPr>
          <p:cNvPr id="84" name="CustomShape 6"/>
          <p:cNvSpPr/>
          <p:nvPr/>
        </p:nvSpPr>
        <p:spPr>
          <a:xfrm>
            <a:off x="1664280" y="1298520"/>
            <a:ext cx="4568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2200" spc="-1" strike="noStrike">
                <a:solidFill>
                  <a:srgbClr val="000000"/>
                </a:solidFill>
                <a:latin typeface="Calibri"/>
              </a:rPr>
              <a:t>🏨</a:t>
            </a:r>
            <a:endParaRPr b="0" lang="tr-TR" sz="2200" spc="-1" strike="noStrike">
              <a:latin typeface="Arial"/>
            </a:endParaRPr>
          </a:p>
        </p:txBody>
      </p:sp>
      <p:sp>
        <p:nvSpPr>
          <p:cNvPr id="85" name="CustomShape 7"/>
          <p:cNvSpPr/>
          <p:nvPr/>
        </p:nvSpPr>
        <p:spPr>
          <a:xfrm>
            <a:off x="356760" y="1828800"/>
            <a:ext cx="1773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ffffff"/>
                </a:solidFill>
                <a:latin typeface="Calibri"/>
                <a:ea typeface="Calibri"/>
              </a:rPr>
              <a:t>Otel Rezervasyonu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86" name="CustomShape 8"/>
          <p:cNvSpPr/>
          <p:nvPr/>
        </p:nvSpPr>
        <p:spPr>
          <a:xfrm>
            <a:off x="356760" y="240480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Şehir, tarih ve bütçe giriş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87" name="CustomShape 9"/>
          <p:cNvSpPr/>
          <p:nvPr/>
        </p:nvSpPr>
        <p:spPr>
          <a:xfrm>
            <a:off x="356760" y="299916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Puana göre sıralama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88" name="CustomShape 10"/>
          <p:cNvSpPr/>
          <p:nvPr/>
        </p:nvSpPr>
        <p:spPr>
          <a:xfrm>
            <a:off x="356760" y="359352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Otomatik rezervasyon önerisi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89" name="CustomShape 11"/>
          <p:cNvSpPr/>
          <p:nvPr/>
        </p:nvSpPr>
        <p:spPr>
          <a:xfrm>
            <a:off x="2423160" y="1143000"/>
            <a:ext cx="2029680" cy="365724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27000" dir="8100000" dist="37674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CustomShape 12"/>
          <p:cNvSpPr/>
          <p:nvPr/>
        </p:nvSpPr>
        <p:spPr>
          <a:xfrm>
            <a:off x="2423160" y="1143000"/>
            <a:ext cx="2029680" cy="63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CustomShape 13"/>
          <p:cNvSpPr/>
          <p:nvPr/>
        </p:nvSpPr>
        <p:spPr>
          <a:xfrm>
            <a:off x="2551320" y="1307520"/>
            <a:ext cx="63972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600" spc="-1" strike="noStrike">
                <a:solidFill>
                  <a:srgbClr val="028090"/>
                </a:solidFill>
                <a:latin typeface="Calibri"/>
                <a:ea typeface="Calibri"/>
              </a:rPr>
              <a:t>02</a:t>
            </a:r>
            <a:endParaRPr b="0" lang="tr-TR" sz="2600" spc="-1" strike="noStrike">
              <a:latin typeface="Arial"/>
            </a:endParaRPr>
          </a:p>
        </p:txBody>
      </p:sp>
      <p:sp>
        <p:nvSpPr>
          <p:cNvPr id="92" name="CustomShape 14"/>
          <p:cNvSpPr/>
          <p:nvPr/>
        </p:nvSpPr>
        <p:spPr>
          <a:xfrm>
            <a:off x="3858840" y="1298520"/>
            <a:ext cx="4568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2200" spc="-1" strike="noStrike">
                <a:solidFill>
                  <a:srgbClr val="000000"/>
                </a:solidFill>
                <a:latin typeface="Calibri"/>
              </a:rPr>
              <a:t>🍽️</a:t>
            </a:r>
            <a:endParaRPr b="0" lang="tr-TR" sz="2200" spc="-1" strike="noStrike">
              <a:latin typeface="Arial"/>
            </a:endParaRPr>
          </a:p>
        </p:txBody>
      </p:sp>
      <p:sp>
        <p:nvSpPr>
          <p:cNvPr id="93" name="CustomShape 15"/>
          <p:cNvSpPr/>
          <p:nvPr/>
        </p:nvSpPr>
        <p:spPr>
          <a:xfrm>
            <a:off x="2551320" y="1828800"/>
            <a:ext cx="1773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ffffff"/>
                </a:solidFill>
                <a:latin typeface="Calibri"/>
                <a:ea typeface="Calibri"/>
              </a:rPr>
              <a:t>Restoran Planı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94" name="CustomShape 16"/>
          <p:cNvSpPr/>
          <p:nvPr/>
        </p:nvSpPr>
        <p:spPr>
          <a:xfrm>
            <a:off x="2551320" y="240480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Kahvaltı, öğle ve akşam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95" name="CustomShape 17"/>
          <p:cNvSpPr/>
          <p:nvPr/>
        </p:nvSpPr>
        <p:spPr>
          <a:xfrm>
            <a:off x="2551320" y="299916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Puan ve bütçe filtresi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96" name="CustomShape 18"/>
          <p:cNvSpPr/>
          <p:nvPr/>
        </p:nvSpPr>
        <p:spPr>
          <a:xfrm>
            <a:off x="2551320" y="359352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Rotaya yakın seçenekler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97" name="CustomShape 19"/>
          <p:cNvSpPr/>
          <p:nvPr/>
        </p:nvSpPr>
        <p:spPr>
          <a:xfrm>
            <a:off x="4617720" y="1143000"/>
            <a:ext cx="2029680" cy="365724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27000" dir="8100000" dist="37674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8" name="CustomShape 20"/>
          <p:cNvSpPr/>
          <p:nvPr/>
        </p:nvSpPr>
        <p:spPr>
          <a:xfrm>
            <a:off x="4617720" y="1143000"/>
            <a:ext cx="2029680" cy="63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CustomShape 21"/>
          <p:cNvSpPr/>
          <p:nvPr/>
        </p:nvSpPr>
        <p:spPr>
          <a:xfrm>
            <a:off x="4745880" y="1307520"/>
            <a:ext cx="63972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600" spc="-1" strike="noStrike">
                <a:solidFill>
                  <a:srgbClr val="028090"/>
                </a:solidFill>
                <a:latin typeface="Calibri"/>
                <a:ea typeface="Calibri"/>
              </a:rPr>
              <a:t>03</a:t>
            </a:r>
            <a:endParaRPr b="0" lang="tr-TR" sz="2600" spc="-1" strike="noStrike">
              <a:latin typeface="Arial"/>
            </a:endParaRPr>
          </a:p>
        </p:txBody>
      </p:sp>
      <p:sp>
        <p:nvSpPr>
          <p:cNvPr id="100" name="CustomShape 22"/>
          <p:cNvSpPr/>
          <p:nvPr/>
        </p:nvSpPr>
        <p:spPr>
          <a:xfrm>
            <a:off x="6053400" y="1298520"/>
            <a:ext cx="4568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2200" spc="-1" strike="noStrike">
                <a:solidFill>
                  <a:srgbClr val="000000"/>
                </a:solidFill>
                <a:latin typeface="Calibri"/>
              </a:rPr>
              <a:t>🗺️</a:t>
            </a:r>
            <a:endParaRPr b="0" lang="tr-TR" sz="2200" spc="-1" strike="noStrike">
              <a:latin typeface="Arial"/>
            </a:endParaRPr>
          </a:p>
        </p:txBody>
      </p:sp>
      <p:sp>
        <p:nvSpPr>
          <p:cNvPr id="101" name="CustomShape 23"/>
          <p:cNvSpPr/>
          <p:nvPr/>
        </p:nvSpPr>
        <p:spPr>
          <a:xfrm>
            <a:off x="4745880" y="1828800"/>
            <a:ext cx="1773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ffffff"/>
                </a:solidFill>
                <a:latin typeface="Calibri"/>
                <a:ea typeface="Calibri"/>
              </a:rPr>
              <a:t>Akıllı Rota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102" name="CustomShape 24"/>
          <p:cNvSpPr/>
          <p:nvPr/>
        </p:nvSpPr>
        <p:spPr>
          <a:xfrm>
            <a:off x="4745880" y="240480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Gerçek zamanlı trafik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03" name="CustomShape 25"/>
          <p:cNvSpPr/>
          <p:nvPr/>
        </p:nvSpPr>
        <p:spPr>
          <a:xfrm>
            <a:off x="4745880" y="299916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Ulaşım aracına göre süre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04" name="CustomShape 26"/>
          <p:cNvSpPr/>
          <p:nvPr/>
        </p:nvSpPr>
        <p:spPr>
          <a:xfrm>
            <a:off x="4745880" y="359352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Saatlik plan oluşturma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05" name="CustomShape 27"/>
          <p:cNvSpPr/>
          <p:nvPr/>
        </p:nvSpPr>
        <p:spPr>
          <a:xfrm>
            <a:off x="6812280" y="1143000"/>
            <a:ext cx="2029680" cy="365724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27000" dir="8100000" dist="37674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CustomShape 28"/>
          <p:cNvSpPr/>
          <p:nvPr/>
        </p:nvSpPr>
        <p:spPr>
          <a:xfrm>
            <a:off x="6812280" y="1143000"/>
            <a:ext cx="2029680" cy="63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CustomShape 29"/>
          <p:cNvSpPr/>
          <p:nvPr/>
        </p:nvSpPr>
        <p:spPr>
          <a:xfrm>
            <a:off x="6940440" y="1307520"/>
            <a:ext cx="63972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600" spc="-1" strike="noStrike">
                <a:solidFill>
                  <a:srgbClr val="028090"/>
                </a:solidFill>
                <a:latin typeface="Calibri"/>
                <a:ea typeface="Calibri"/>
              </a:rPr>
              <a:t>04</a:t>
            </a:r>
            <a:endParaRPr b="0" lang="tr-TR" sz="2600" spc="-1" strike="noStrike">
              <a:latin typeface="Arial"/>
            </a:endParaRPr>
          </a:p>
        </p:txBody>
      </p:sp>
      <p:sp>
        <p:nvSpPr>
          <p:cNvPr id="108" name="CustomShape 30"/>
          <p:cNvSpPr/>
          <p:nvPr/>
        </p:nvSpPr>
        <p:spPr>
          <a:xfrm>
            <a:off x="8247960" y="1298520"/>
            <a:ext cx="4568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tr-TR" sz="2200" spc="-1" strike="noStrike">
                <a:solidFill>
                  <a:srgbClr val="000000"/>
                </a:solidFill>
                <a:latin typeface="Calibri"/>
              </a:rPr>
              <a:t>🎭</a:t>
            </a:r>
            <a:endParaRPr b="0" lang="tr-TR" sz="2200" spc="-1" strike="noStrike">
              <a:latin typeface="Arial"/>
            </a:endParaRPr>
          </a:p>
        </p:txBody>
      </p:sp>
      <p:sp>
        <p:nvSpPr>
          <p:cNvPr id="109" name="CustomShape 31"/>
          <p:cNvSpPr/>
          <p:nvPr/>
        </p:nvSpPr>
        <p:spPr>
          <a:xfrm>
            <a:off x="6940440" y="1828800"/>
            <a:ext cx="1773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lang="tr-TR" sz="1300" spc="-1" strike="noStrike">
                <a:solidFill>
                  <a:srgbClr val="ffffff"/>
                </a:solidFill>
                <a:latin typeface="Calibri"/>
                <a:ea typeface="Calibri"/>
              </a:rPr>
              <a:t>Ekstra Aktivite Önerileri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110" name="CustomShape 32"/>
          <p:cNvSpPr/>
          <p:nvPr/>
        </p:nvSpPr>
        <p:spPr>
          <a:xfrm>
            <a:off x="6940440" y="240480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Yöresel workshop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11" name="CustomShape 33"/>
          <p:cNvSpPr/>
          <p:nvPr/>
        </p:nvSpPr>
        <p:spPr>
          <a:xfrm>
            <a:off x="6940440" y="299916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Konser, kültürel etkinlik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12" name="CustomShape 34"/>
          <p:cNvSpPr/>
          <p:nvPr/>
        </p:nvSpPr>
        <p:spPr>
          <a:xfrm>
            <a:off x="6940440" y="3593520"/>
            <a:ext cx="1773720" cy="5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90bfca"/>
                </a:solidFill>
                <a:latin typeface="Calibri"/>
                <a:ea typeface="Calibri"/>
              </a:rPr>
              <a:t>· Tekne turu, gece etkinlikleri… </a:t>
            </a:r>
            <a:endParaRPr b="0" lang="tr-T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CustomShape 2"/>
          <p:cNvSpPr/>
          <p:nvPr/>
        </p:nvSpPr>
        <p:spPr>
          <a:xfrm>
            <a:off x="365760" y="164520"/>
            <a:ext cx="841212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2600" spc="-1" strike="noStrike">
                <a:solidFill>
                  <a:srgbClr val="ffffff"/>
                </a:solidFill>
                <a:latin typeface="Calibri"/>
                <a:ea typeface="Calibri"/>
              </a:rPr>
              <a:t>Örnek Senaryo</a:t>
            </a:r>
            <a:endParaRPr b="0" lang="tr-TR" sz="2600" spc="-1" strike="noStrike">
              <a:latin typeface="Arial"/>
            </a:endParaRPr>
          </a:p>
        </p:txBody>
      </p:sp>
      <p:pic>
        <p:nvPicPr>
          <p:cNvPr id="115" name="Image 0" descr=""/>
          <p:cNvPicPr/>
          <p:nvPr/>
        </p:nvPicPr>
        <p:blipFill>
          <a:blip r:embed="rId1"/>
          <a:srcRect l="28450" t="0" r="28450" b="0"/>
          <a:stretch/>
        </p:blipFill>
        <p:spPr>
          <a:xfrm>
            <a:off x="0" y="960120"/>
            <a:ext cx="3108600" cy="4183200"/>
          </a:xfrm>
          <a:prstGeom prst="rect">
            <a:avLst/>
          </a:prstGeom>
          <a:ln>
            <a:noFill/>
          </a:ln>
        </p:spPr>
      </p:pic>
      <p:sp>
        <p:nvSpPr>
          <p:cNvPr id="116" name="CustomShape 3"/>
          <p:cNvSpPr/>
          <p:nvPr/>
        </p:nvSpPr>
        <p:spPr>
          <a:xfrm>
            <a:off x="0" y="960120"/>
            <a:ext cx="3108600" cy="4183200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CustomShape 4"/>
          <p:cNvSpPr/>
          <p:nvPr/>
        </p:nvSpPr>
        <p:spPr>
          <a:xfrm>
            <a:off x="0" y="960480"/>
            <a:ext cx="3108600" cy="438480"/>
          </a:xfrm>
          <a:prstGeom prst="rect">
            <a:avLst/>
          </a:prstGeom>
          <a:solidFill>
            <a:srgbClr val="0d1b2a">
              <a:alpha val="80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CustomShape 5"/>
          <p:cNvSpPr/>
          <p:nvPr/>
        </p:nvSpPr>
        <p:spPr>
          <a:xfrm>
            <a:off x="109800" y="978480"/>
            <a:ext cx="2889000" cy="38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ffffff"/>
                </a:solidFill>
                <a:latin typeface="Calibri"/>
                <a:ea typeface="Calibri"/>
              </a:rPr>
              <a:t>👤 </a:t>
            </a:r>
            <a:r>
              <a:rPr b="1" lang="tr-TR" sz="1200" spc="-1" strike="noStrike">
                <a:solidFill>
                  <a:srgbClr val="ffffff"/>
                </a:solidFill>
                <a:latin typeface="Calibri"/>
                <a:ea typeface="Calibri"/>
              </a:rPr>
              <a:t>Kullanıcı Bilgileri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19" name="CustomShape 6"/>
          <p:cNvSpPr/>
          <p:nvPr/>
        </p:nvSpPr>
        <p:spPr>
          <a:xfrm>
            <a:off x="128160" y="1517760"/>
            <a:ext cx="283428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50" spc="-1" strike="noStrike">
                <a:solidFill>
                  <a:srgbClr val="ffffff"/>
                </a:solidFill>
                <a:latin typeface="Calibri"/>
                <a:ea typeface="Calibri"/>
              </a:rPr>
              <a:t>📍 </a:t>
            </a:r>
            <a:r>
              <a:rPr b="0" lang="tr-TR" sz="1250" spc="-1" strike="noStrike">
                <a:solidFill>
                  <a:srgbClr val="ffffff"/>
                </a:solidFill>
                <a:latin typeface="Calibri"/>
                <a:ea typeface="Calibri"/>
              </a:rPr>
              <a:t>Şehir: İstanbul</a:t>
            </a:r>
            <a:endParaRPr b="0" lang="tr-TR" sz="1250" spc="-1" strike="noStrike">
              <a:latin typeface="Arial"/>
            </a:endParaRPr>
          </a:p>
        </p:txBody>
      </p:sp>
      <p:sp>
        <p:nvSpPr>
          <p:cNvPr id="120" name="CustomShape 7"/>
          <p:cNvSpPr/>
          <p:nvPr/>
        </p:nvSpPr>
        <p:spPr>
          <a:xfrm>
            <a:off x="128160" y="1993320"/>
            <a:ext cx="283428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50" spc="-1" strike="noStrike">
                <a:solidFill>
                  <a:srgbClr val="ffffff"/>
                </a:solidFill>
                <a:latin typeface="Calibri"/>
                <a:ea typeface="Calibri"/>
              </a:rPr>
              <a:t>📅 </a:t>
            </a:r>
            <a:r>
              <a:rPr b="0" lang="tr-TR" sz="1250" spc="-1" strike="noStrike">
                <a:solidFill>
                  <a:srgbClr val="ffffff"/>
                </a:solidFill>
                <a:latin typeface="Calibri"/>
                <a:ea typeface="Calibri"/>
              </a:rPr>
              <a:t>Süre: 3 gün</a:t>
            </a:r>
            <a:endParaRPr b="0" lang="tr-TR" sz="1250" spc="-1" strike="noStrike">
              <a:latin typeface="Arial"/>
            </a:endParaRPr>
          </a:p>
        </p:txBody>
      </p:sp>
      <p:sp>
        <p:nvSpPr>
          <p:cNvPr id="121" name="CustomShape 8"/>
          <p:cNvSpPr/>
          <p:nvPr/>
        </p:nvSpPr>
        <p:spPr>
          <a:xfrm>
            <a:off x="128160" y="2468880"/>
            <a:ext cx="283428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50" spc="-1" strike="noStrike">
                <a:solidFill>
                  <a:srgbClr val="ffffff"/>
                </a:solidFill>
                <a:latin typeface="Calibri"/>
                <a:ea typeface="Calibri"/>
              </a:rPr>
              <a:t>💰 </a:t>
            </a:r>
            <a:r>
              <a:rPr b="0" lang="tr-TR" sz="1250" spc="-1" strike="noStrike">
                <a:solidFill>
                  <a:srgbClr val="ffffff"/>
                </a:solidFill>
                <a:latin typeface="Calibri"/>
                <a:ea typeface="Calibri"/>
              </a:rPr>
              <a:t>Bütçe: 3.000 TL/gün</a:t>
            </a:r>
            <a:endParaRPr b="0" lang="tr-TR" sz="1250" spc="-1" strike="noStrike">
              <a:latin typeface="Arial"/>
            </a:endParaRPr>
          </a:p>
        </p:txBody>
      </p:sp>
      <p:sp>
        <p:nvSpPr>
          <p:cNvPr id="122" name="CustomShape 9"/>
          <p:cNvSpPr/>
          <p:nvPr/>
        </p:nvSpPr>
        <p:spPr>
          <a:xfrm>
            <a:off x="128160" y="2944440"/>
            <a:ext cx="283428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250" spc="-1" strike="noStrike">
                <a:solidFill>
                  <a:srgbClr val="ffffff"/>
                </a:solidFill>
                <a:latin typeface="Calibri"/>
                <a:ea typeface="Calibri"/>
              </a:rPr>
              <a:t>🚇 </a:t>
            </a:r>
            <a:r>
              <a:rPr b="0" lang="tr-TR" sz="1250" spc="-1" strike="noStrike">
                <a:solidFill>
                  <a:srgbClr val="ffffff"/>
                </a:solidFill>
                <a:latin typeface="Calibri"/>
                <a:ea typeface="Calibri"/>
              </a:rPr>
              <a:t>Ulaşım: Metro</a:t>
            </a:r>
            <a:endParaRPr b="0" lang="tr-TR" sz="1250" spc="-1" strike="noStrike">
              <a:latin typeface="Arial"/>
            </a:endParaRPr>
          </a:p>
        </p:txBody>
      </p:sp>
      <p:sp>
        <p:nvSpPr>
          <p:cNvPr id="123" name="CustomShape 10"/>
          <p:cNvSpPr/>
          <p:nvPr/>
        </p:nvSpPr>
        <p:spPr>
          <a:xfrm>
            <a:off x="0" y="3429000"/>
            <a:ext cx="3108600" cy="347040"/>
          </a:xfrm>
          <a:prstGeom prst="rect">
            <a:avLst/>
          </a:prstGeom>
          <a:solidFill>
            <a:srgbClr val="028090">
              <a:alpha val="80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CustomShape 11"/>
          <p:cNvSpPr/>
          <p:nvPr/>
        </p:nvSpPr>
        <p:spPr>
          <a:xfrm>
            <a:off x="128160" y="3465720"/>
            <a:ext cx="28342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Sistem Yanıtı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25" name="CustomShape 12"/>
          <p:cNvSpPr/>
          <p:nvPr/>
        </p:nvSpPr>
        <p:spPr>
          <a:xfrm>
            <a:off x="128160" y="3840480"/>
            <a:ext cx="283428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0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Uygun oteller önerilir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26" name="CustomShape 13"/>
          <p:cNvSpPr/>
          <p:nvPr/>
        </p:nvSpPr>
        <p:spPr>
          <a:xfrm>
            <a:off x="128160" y="4169520"/>
            <a:ext cx="283428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0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Uygun restoranlar önerilir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27" name="CustomShape 14"/>
          <p:cNvSpPr/>
          <p:nvPr/>
        </p:nvSpPr>
        <p:spPr>
          <a:xfrm>
            <a:off x="128160" y="4498920"/>
            <a:ext cx="283428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0" lang="tr-TR" sz="1100" spc="-1" strike="noStrike">
                <a:solidFill>
                  <a:srgbClr val="ffffff"/>
                </a:solidFill>
                <a:latin typeface="Calibri"/>
                <a:ea typeface="Calibri"/>
              </a:rPr>
              <a:t>Saatlik plan oluşturulur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28" name="CustomShape 15"/>
          <p:cNvSpPr/>
          <p:nvPr/>
        </p:nvSpPr>
        <p:spPr>
          <a:xfrm>
            <a:off x="3200400" y="1085760"/>
            <a:ext cx="5668920" cy="393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88900" dir="8100000" dist="25455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tr-TR" sz="1800" spc="-1" strike="noStrike">
                <a:solidFill>
                  <a:srgbClr val="1a2b35"/>
                </a:solidFill>
                <a:latin typeface="Calibri"/>
                <a:ea typeface="Calibri"/>
              </a:rPr>
              <a:t>'ne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129" name="CustomShape 16"/>
          <p:cNvSpPr/>
          <p:nvPr/>
        </p:nvSpPr>
        <p:spPr>
          <a:xfrm>
            <a:off x="3246120" y="1051560"/>
            <a:ext cx="5668920" cy="402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CustomShape 17"/>
          <p:cNvSpPr/>
          <p:nvPr/>
        </p:nvSpPr>
        <p:spPr>
          <a:xfrm>
            <a:off x="3383280" y="1078920"/>
            <a:ext cx="53946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ffffff"/>
                </a:solidFill>
                <a:latin typeface="Calibri"/>
                <a:ea typeface="Calibri"/>
              </a:rPr>
              <a:t>📅 </a:t>
            </a:r>
            <a:r>
              <a:rPr b="1" lang="tr-TR" sz="1300" spc="-1" strike="noStrike">
                <a:solidFill>
                  <a:srgbClr val="ffffff"/>
                </a:solidFill>
                <a:latin typeface="Calibri"/>
                <a:ea typeface="Calibri"/>
              </a:rPr>
              <a:t>Günlük Program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131" name="Line 18"/>
          <p:cNvSpPr/>
          <p:nvPr/>
        </p:nvSpPr>
        <p:spPr>
          <a:xfrm>
            <a:off x="4187880" y="1572480"/>
            <a:ext cx="0" cy="3291840"/>
          </a:xfrm>
          <a:prstGeom prst="line">
            <a:avLst/>
          </a:prstGeom>
          <a:ln w="255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CustomShape 19"/>
          <p:cNvSpPr/>
          <p:nvPr/>
        </p:nvSpPr>
        <p:spPr>
          <a:xfrm>
            <a:off x="4133160" y="152712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CustomShape 20"/>
          <p:cNvSpPr/>
          <p:nvPr/>
        </p:nvSpPr>
        <p:spPr>
          <a:xfrm>
            <a:off x="3310200" y="146304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09:00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34" name="CustomShape 21"/>
          <p:cNvSpPr/>
          <p:nvPr/>
        </p:nvSpPr>
        <p:spPr>
          <a:xfrm>
            <a:off x="4325040" y="146304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Uyanış ve hazırlık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35" name="CustomShape 22"/>
          <p:cNvSpPr/>
          <p:nvPr/>
        </p:nvSpPr>
        <p:spPr>
          <a:xfrm>
            <a:off x="4133160" y="186552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CustomShape 23"/>
          <p:cNvSpPr/>
          <p:nvPr/>
        </p:nvSpPr>
        <p:spPr>
          <a:xfrm>
            <a:off x="3310200" y="180144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10:00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37" name="CustomShape 24"/>
          <p:cNvSpPr/>
          <p:nvPr/>
        </p:nvSpPr>
        <p:spPr>
          <a:xfrm>
            <a:off x="4325040" y="210672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Kahvaltı – Beyoğlu Kafe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38" name="CustomShape 25"/>
          <p:cNvSpPr/>
          <p:nvPr/>
        </p:nvSpPr>
        <p:spPr>
          <a:xfrm>
            <a:off x="4133160" y="220356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26"/>
          <p:cNvSpPr/>
          <p:nvPr/>
        </p:nvSpPr>
        <p:spPr>
          <a:xfrm>
            <a:off x="3310200" y="213984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10:30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40" name="CustomShape 27"/>
          <p:cNvSpPr/>
          <p:nvPr/>
        </p:nvSpPr>
        <p:spPr>
          <a:xfrm>
            <a:off x="4325040" y="177408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Otelden çıkış, metroya biniş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41" name="CustomShape 28"/>
          <p:cNvSpPr/>
          <p:nvPr/>
        </p:nvSpPr>
        <p:spPr>
          <a:xfrm>
            <a:off x="4133160" y="254196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CustomShape 29"/>
          <p:cNvSpPr/>
          <p:nvPr/>
        </p:nvSpPr>
        <p:spPr>
          <a:xfrm>
            <a:off x="3310200" y="247788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12:00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43" name="CustomShape 30"/>
          <p:cNvSpPr/>
          <p:nvPr/>
        </p:nvSpPr>
        <p:spPr>
          <a:xfrm>
            <a:off x="4325040" y="247788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Galata Kulesi ziyareti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44" name="CustomShape 31"/>
          <p:cNvSpPr/>
          <p:nvPr/>
        </p:nvSpPr>
        <p:spPr>
          <a:xfrm>
            <a:off x="4133160" y="288036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CustomShape 32"/>
          <p:cNvSpPr/>
          <p:nvPr/>
        </p:nvSpPr>
        <p:spPr>
          <a:xfrm>
            <a:off x="3310200" y="281628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14:00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46" name="CustomShape 33"/>
          <p:cNvSpPr/>
          <p:nvPr/>
        </p:nvSpPr>
        <p:spPr>
          <a:xfrm>
            <a:off x="4297680" y="2658600"/>
            <a:ext cx="443448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Öğle yemeği – Galata Sanat Restorant 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47" name="CustomShape 34"/>
          <p:cNvSpPr/>
          <p:nvPr/>
        </p:nvSpPr>
        <p:spPr>
          <a:xfrm>
            <a:off x="4133160" y="321876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CustomShape 35"/>
          <p:cNvSpPr/>
          <p:nvPr/>
        </p:nvSpPr>
        <p:spPr>
          <a:xfrm>
            <a:off x="3310200" y="315468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17:00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49" name="CustomShape 36"/>
          <p:cNvSpPr/>
          <p:nvPr/>
        </p:nvSpPr>
        <p:spPr>
          <a:xfrm>
            <a:off x="4325040" y="315468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CustomShape 37"/>
          <p:cNvSpPr/>
          <p:nvPr/>
        </p:nvSpPr>
        <p:spPr>
          <a:xfrm>
            <a:off x="4133160" y="355716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CustomShape 38"/>
          <p:cNvSpPr/>
          <p:nvPr/>
        </p:nvSpPr>
        <p:spPr>
          <a:xfrm>
            <a:off x="3310200" y="349308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18:00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52" name="CustomShape 39"/>
          <p:cNvSpPr/>
          <p:nvPr/>
        </p:nvSpPr>
        <p:spPr>
          <a:xfrm>
            <a:off x="4325040" y="349308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Kız Kulesi &amp; Boğaz turu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53" name="CustomShape 40"/>
          <p:cNvSpPr/>
          <p:nvPr/>
        </p:nvSpPr>
        <p:spPr>
          <a:xfrm>
            <a:off x="4133160" y="389520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CustomShape 41"/>
          <p:cNvSpPr/>
          <p:nvPr/>
        </p:nvSpPr>
        <p:spPr>
          <a:xfrm>
            <a:off x="3310200" y="383148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20:00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55" name="CustomShape 42"/>
          <p:cNvSpPr/>
          <p:nvPr/>
        </p:nvSpPr>
        <p:spPr>
          <a:xfrm>
            <a:off x="4325040" y="383148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Akşam yemeği – Peymane Pera 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56" name="CustomShape 43"/>
          <p:cNvSpPr/>
          <p:nvPr/>
        </p:nvSpPr>
        <p:spPr>
          <a:xfrm>
            <a:off x="4133160" y="423360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ustomShape 44"/>
          <p:cNvSpPr/>
          <p:nvPr/>
        </p:nvSpPr>
        <p:spPr>
          <a:xfrm>
            <a:off x="3310200" y="416952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21:30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58" name="CustomShape 45"/>
          <p:cNvSpPr/>
          <p:nvPr/>
        </p:nvSpPr>
        <p:spPr>
          <a:xfrm>
            <a:off x="4325040" y="416952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Sahil turu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59" name="CustomShape 46"/>
          <p:cNvSpPr/>
          <p:nvPr/>
        </p:nvSpPr>
        <p:spPr>
          <a:xfrm>
            <a:off x="4133160" y="4572000"/>
            <a:ext cx="118440" cy="118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CustomShape 47"/>
          <p:cNvSpPr/>
          <p:nvPr/>
        </p:nvSpPr>
        <p:spPr>
          <a:xfrm>
            <a:off x="3310200" y="4507920"/>
            <a:ext cx="7768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1" lang="tr-TR" sz="1000" spc="-1" strike="noStrike">
                <a:solidFill>
                  <a:srgbClr val="028090"/>
                </a:solidFill>
                <a:latin typeface="Calibri"/>
                <a:ea typeface="Calibri"/>
              </a:rPr>
              <a:t>23:00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161" name="CustomShape 48"/>
          <p:cNvSpPr/>
          <p:nvPr/>
        </p:nvSpPr>
        <p:spPr>
          <a:xfrm>
            <a:off x="4325040" y="450792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Otele varış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162" name="CustomShape 49"/>
          <p:cNvSpPr/>
          <p:nvPr/>
        </p:nvSpPr>
        <p:spPr>
          <a:xfrm>
            <a:off x="4297680" y="3130560"/>
            <a:ext cx="4434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1a2b35"/>
                </a:solidFill>
                <a:latin typeface="Calibri"/>
                <a:ea typeface="Calibri"/>
              </a:rPr>
              <a:t>Kız Kulesi’ne varış</a:t>
            </a:r>
            <a:endParaRPr b="0" lang="tr-T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365760" y="201240"/>
            <a:ext cx="841212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3200" spc="-1" strike="noStrike">
                <a:solidFill>
                  <a:srgbClr val="ffffff"/>
                </a:solidFill>
                <a:latin typeface="Calibri"/>
                <a:ea typeface="Calibri"/>
              </a:rPr>
              <a:t>Scrum ile Çalışma Yöntemimiz</a:t>
            </a:r>
            <a:endParaRPr b="0" lang="tr-TR" sz="3200" spc="-1" strike="noStrike">
              <a:latin typeface="Arial"/>
            </a:endParaRPr>
          </a:p>
        </p:txBody>
      </p:sp>
      <p:sp>
        <p:nvSpPr>
          <p:cNvPr id="164" name="CustomShape 2"/>
          <p:cNvSpPr/>
          <p:nvPr/>
        </p:nvSpPr>
        <p:spPr>
          <a:xfrm>
            <a:off x="3383280" y="877680"/>
            <a:ext cx="2377080" cy="63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3"/>
          <p:cNvSpPr/>
          <p:nvPr/>
        </p:nvSpPr>
        <p:spPr>
          <a:xfrm>
            <a:off x="502920" y="1143000"/>
            <a:ext cx="2605680" cy="356580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27000" dir="8100000" dist="37674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CustomShape 4"/>
          <p:cNvSpPr/>
          <p:nvPr/>
        </p:nvSpPr>
        <p:spPr>
          <a:xfrm>
            <a:off x="502920" y="1143000"/>
            <a:ext cx="2605680" cy="63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5"/>
          <p:cNvSpPr/>
          <p:nvPr/>
        </p:nvSpPr>
        <p:spPr>
          <a:xfrm>
            <a:off x="640080" y="1261800"/>
            <a:ext cx="639720" cy="59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3000" spc="-1" strike="noStrike">
                <a:solidFill>
                  <a:srgbClr val="000000"/>
                </a:solidFill>
                <a:latin typeface="Calibri"/>
              </a:rPr>
              <a:t>👑</a:t>
            </a:r>
            <a:endParaRPr b="0" lang="tr-TR" sz="3000" spc="-1" strike="noStrike">
              <a:latin typeface="Arial"/>
            </a:endParaRPr>
          </a:p>
        </p:txBody>
      </p:sp>
      <p:sp>
        <p:nvSpPr>
          <p:cNvPr id="168" name="CustomShape 6"/>
          <p:cNvSpPr/>
          <p:nvPr/>
        </p:nvSpPr>
        <p:spPr>
          <a:xfrm>
            <a:off x="640080" y="1920240"/>
            <a:ext cx="233136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500" spc="-1" strike="noStrike">
                <a:solidFill>
                  <a:srgbClr val="ffffff"/>
                </a:solidFill>
                <a:latin typeface="Calibri"/>
                <a:ea typeface="Calibri"/>
              </a:rPr>
              <a:t>Product Owner</a:t>
            </a:r>
            <a:endParaRPr b="0" lang="tr-TR" sz="1500" spc="-1" strike="noStrike">
              <a:latin typeface="Arial"/>
            </a:endParaRPr>
          </a:p>
        </p:txBody>
      </p:sp>
      <p:sp>
        <p:nvSpPr>
          <p:cNvPr id="169" name="CustomShape 7"/>
          <p:cNvSpPr/>
          <p:nvPr/>
        </p:nvSpPr>
        <p:spPr>
          <a:xfrm>
            <a:off x="640080" y="25146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Proje ihtiyaçlarını belirler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70" name="CustomShape 8"/>
          <p:cNvSpPr/>
          <p:nvPr/>
        </p:nvSpPr>
        <p:spPr>
          <a:xfrm>
            <a:off x="640080" y="29718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Öncelikleri yönetir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71" name="CustomShape 9"/>
          <p:cNvSpPr/>
          <p:nvPr/>
        </p:nvSpPr>
        <p:spPr>
          <a:xfrm>
            <a:off x="640080" y="34290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Backlog'u düzenler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72" name="CustomShape 10"/>
          <p:cNvSpPr/>
          <p:nvPr/>
        </p:nvSpPr>
        <p:spPr>
          <a:xfrm>
            <a:off x="640080" y="38862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Müşteri perspektifini temsil eder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73" name="CustomShape 11"/>
          <p:cNvSpPr/>
          <p:nvPr/>
        </p:nvSpPr>
        <p:spPr>
          <a:xfrm>
            <a:off x="3337560" y="1143000"/>
            <a:ext cx="2605680" cy="356580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27000" dir="8100000" dist="37674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4" name="CustomShape 12"/>
          <p:cNvSpPr/>
          <p:nvPr/>
        </p:nvSpPr>
        <p:spPr>
          <a:xfrm>
            <a:off x="3337560" y="1143000"/>
            <a:ext cx="2605680" cy="63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13"/>
          <p:cNvSpPr/>
          <p:nvPr/>
        </p:nvSpPr>
        <p:spPr>
          <a:xfrm>
            <a:off x="3474720" y="1261800"/>
            <a:ext cx="639720" cy="59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3000" spc="-1" strike="noStrike">
                <a:solidFill>
                  <a:srgbClr val="000000"/>
                </a:solidFill>
                <a:latin typeface="Calibri"/>
              </a:rPr>
              <a:t>🔄</a:t>
            </a:r>
            <a:endParaRPr b="0" lang="tr-TR" sz="3000" spc="-1" strike="noStrike">
              <a:latin typeface="Arial"/>
            </a:endParaRPr>
          </a:p>
        </p:txBody>
      </p:sp>
      <p:sp>
        <p:nvSpPr>
          <p:cNvPr id="176" name="CustomShape 14"/>
          <p:cNvSpPr/>
          <p:nvPr/>
        </p:nvSpPr>
        <p:spPr>
          <a:xfrm>
            <a:off x="3474720" y="1920240"/>
            <a:ext cx="233136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500" spc="-1" strike="noStrike">
                <a:solidFill>
                  <a:srgbClr val="ffffff"/>
                </a:solidFill>
                <a:latin typeface="Calibri"/>
                <a:ea typeface="Calibri"/>
              </a:rPr>
              <a:t>Scrum Master</a:t>
            </a:r>
            <a:endParaRPr b="0" lang="tr-TR" sz="1500" spc="-1" strike="noStrike">
              <a:latin typeface="Arial"/>
            </a:endParaRPr>
          </a:p>
        </p:txBody>
      </p:sp>
      <p:sp>
        <p:nvSpPr>
          <p:cNvPr id="177" name="CustomShape 15"/>
          <p:cNvSpPr/>
          <p:nvPr/>
        </p:nvSpPr>
        <p:spPr>
          <a:xfrm>
            <a:off x="3474720" y="25146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Scrum sürecini yönetir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78" name="CustomShape 16"/>
          <p:cNvSpPr/>
          <p:nvPr/>
        </p:nvSpPr>
        <p:spPr>
          <a:xfrm>
            <a:off x="3474720" y="29718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Takım koordinasyonunu sağlar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79" name="CustomShape 17"/>
          <p:cNvSpPr/>
          <p:nvPr/>
        </p:nvSpPr>
        <p:spPr>
          <a:xfrm>
            <a:off x="3474720" y="34290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Engellemeleri ortadan kaldırır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80" name="CustomShape 18"/>
          <p:cNvSpPr/>
          <p:nvPr/>
        </p:nvSpPr>
        <p:spPr>
          <a:xfrm>
            <a:off x="3474720" y="38862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Günlük standup toplantıları yönetir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81" name="CustomShape 19"/>
          <p:cNvSpPr/>
          <p:nvPr/>
        </p:nvSpPr>
        <p:spPr>
          <a:xfrm>
            <a:off x="6172200" y="1143000"/>
            <a:ext cx="2605680" cy="356580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27000" dir="8100000" dist="37674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CustomShape 20"/>
          <p:cNvSpPr/>
          <p:nvPr/>
        </p:nvSpPr>
        <p:spPr>
          <a:xfrm>
            <a:off x="6172200" y="1143000"/>
            <a:ext cx="2605680" cy="63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21"/>
          <p:cNvSpPr/>
          <p:nvPr/>
        </p:nvSpPr>
        <p:spPr>
          <a:xfrm>
            <a:off x="6309360" y="1261800"/>
            <a:ext cx="639720" cy="59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3000" spc="-1" strike="noStrike">
                <a:solidFill>
                  <a:srgbClr val="000000"/>
                </a:solidFill>
                <a:latin typeface="Calibri"/>
              </a:rPr>
              <a:t>💻</a:t>
            </a:r>
            <a:endParaRPr b="0" lang="tr-TR" sz="3000" spc="-1" strike="noStrike">
              <a:latin typeface="Arial"/>
            </a:endParaRPr>
          </a:p>
        </p:txBody>
      </p:sp>
      <p:sp>
        <p:nvSpPr>
          <p:cNvPr id="184" name="CustomShape 22"/>
          <p:cNvSpPr/>
          <p:nvPr/>
        </p:nvSpPr>
        <p:spPr>
          <a:xfrm>
            <a:off x="6309360" y="1920240"/>
            <a:ext cx="233136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500" spc="-1" strike="noStrike">
                <a:solidFill>
                  <a:srgbClr val="ffffff"/>
                </a:solidFill>
                <a:latin typeface="Calibri"/>
                <a:ea typeface="Calibri"/>
              </a:rPr>
              <a:t>Development Team</a:t>
            </a:r>
            <a:endParaRPr b="0" lang="tr-TR" sz="1500" spc="-1" strike="noStrike">
              <a:latin typeface="Arial"/>
            </a:endParaRPr>
          </a:p>
        </p:txBody>
      </p:sp>
      <p:sp>
        <p:nvSpPr>
          <p:cNvPr id="185" name="CustomShape 23"/>
          <p:cNvSpPr/>
          <p:nvPr/>
        </p:nvSpPr>
        <p:spPr>
          <a:xfrm>
            <a:off x="6309360" y="25146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Yazılım geliştirir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86" name="CustomShape 24"/>
          <p:cNvSpPr/>
          <p:nvPr/>
        </p:nvSpPr>
        <p:spPr>
          <a:xfrm>
            <a:off x="6309360" y="29718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Sprint görevlerini tamamlar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87" name="CustomShape 25"/>
          <p:cNvSpPr/>
          <p:nvPr/>
        </p:nvSpPr>
        <p:spPr>
          <a:xfrm>
            <a:off x="6309360" y="34290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Kod incelemesi yapar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88" name="CustomShape 26"/>
          <p:cNvSpPr/>
          <p:nvPr/>
        </p:nvSpPr>
        <p:spPr>
          <a:xfrm>
            <a:off x="6309360" y="3886200"/>
            <a:ext cx="233136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50" spc="-1" strike="noStrike">
                <a:solidFill>
                  <a:srgbClr val="90bfca"/>
                </a:solidFill>
                <a:latin typeface="Calibri"/>
                <a:ea typeface="Calibri"/>
              </a:rPr>
              <a:t>· Teknik çözümler üretir</a:t>
            </a:r>
            <a:endParaRPr b="0" lang="tr-TR" sz="1150" spc="-1" strike="noStrike">
              <a:latin typeface="Arial"/>
            </a:endParaRPr>
          </a:p>
        </p:txBody>
      </p:sp>
      <p:sp>
        <p:nvSpPr>
          <p:cNvPr id="189" name="CustomShape 27"/>
          <p:cNvSpPr/>
          <p:nvPr/>
        </p:nvSpPr>
        <p:spPr>
          <a:xfrm>
            <a:off x="502920" y="4773240"/>
            <a:ext cx="8137800" cy="273960"/>
          </a:xfrm>
          <a:prstGeom prst="rect">
            <a:avLst/>
          </a:prstGeom>
          <a:solidFill>
            <a:srgbClr val="0d253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28"/>
          <p:cNvSpPr/>
          <p:nvPr/>
        </p:nvSpPr>
        <p:spPr>
          <a:xfrm>
            <a:off x="594360" y="4800600"/>
            <a:ext cx="795492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1100" spc="-1" strike="noStrike">
                <a:solidFill>
                  <a:srgbClr val="028090"/>
                </a:solidFill>
                <a:latin typeface="Calibri"/>
                <a:ea typeface="Calibri"/>
              </a:rPr>
              <a:t>Her Sprint: Planlama → Geliştirme → İnceleme → Retrospektif</a:t>
            </a:r>
            <a:endParaRPr b="0" lang="tr-T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Image 0" descr=""/>
          <p:cNvPicPr/>
          <p:nvPr/>
        </p:nvPicPr>
        <p:blipFill>
          <a:blip r:embed="rId1"/>
          <a:srcRect l="25987" t="0" r="25987" b="0"/>
          <a:stretch/>
        </p:blipFill>
        <p:spPr>
          <a:xfrm>
            <a:off x="4846320" y="0"/>
            <a:ext cx="4297320" cy="5143320"/>
          </a:xfrm>
          <a:prstGeom prst="rect">
            <a:avLst/>
          </a:prstGeom>
          <a:ln>
            <a:noFill/>
          </a:ln>
        </p:spPr>
      </p:pic>
      <p:sp>
        <p:nvSpPr>
          <p:cNvPr id="192" name="CustomShape 1"/>
          <p:cNvSpPr/>
          <p:nvPr/>
        </p:nvSpPr>
        <p:spPr>
          <a:xfrm>
            <a:off x="4846320" y="0"/>
            <a:ext cx="4297320" cy="514332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CustomShape 2"/>
          <p:cNvSpPr/>
          <p:nvPr/>
        </p:nvSpPr>
        <p:spPr>
          <a:xfrm>
            <a:off x="365760" y="274320"/>
            <a:ext cx="429732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3000" spc="-1" strike="noStrike">
                <a:solidFill>
                  <a:srgbClr val="ffffff"/>
                </a:solidFill>
                <a:latin typeface="Calibri"/>
                <a:ea typeface="Calibri"/>
              </a:rPr>
              <a:t>Sprint Planı</a:t>
            </a:r>
            <a:endParaRPr b="0" lang="tr-TR" sz="3000" spc="-1" strike="noStrike">
              <a:latin typeface="Arial"/>
            </a:endParaRPr>
          </a:p>
        </p:txBody>
      </p:sp>
      <p:sp>
        <p:nvSpPr>
          <p:cNvPr id="194" name="CustomShape 3"/>
          <p:cNvSpPr/>
          <p:nvPr/>
        </p:nvSpPr>
        <p:spPr>
          <a:xfrm>
            <a:off x="365760" y="914400"/>
            <a:ext cx="1645560" cy="5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CustomShape 4"/>
          <p:cNvSpPr/>
          <p:nvPr/>
        </p:nvSpPr>
        <p:spPr>
          <a:xfrm>
            <a:off x="274320" y="1097280"/>
            <a:ext cx="4388760" cy="117000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0160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CustomShape 5"/>
          <p:cNvSpPr/>
          <p:nvPr/>
        </p:nvSpPr>
        <p:spPr>
          <a:xfrm>
            <a:off x="274320" y="1097280"/>
            <a:ext cx="72720" cy="117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6"/>
          <p:cNvSpPr/>
          <p:nvPr/>
        </p:nvSpPr>
        <p:spPr>
          <a:xfrm>
            <a:off x="438840" y="1188720"/>
            <a:ext cx="10969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02c39a"/>
                </a:solidFill>
                <a:latin typeface="Calibri"/>
                <a:ea typeface="Calibri"/>
              </a:rPr>
              <a:t>Sprint 1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198" name="CustomShape 7"/>
          <p:cNvSpPr/>
          <p:nvPr/>
        </p:nvSpPr>
        <p:spPr>
          <a:xfrm>
            <a:off x="438840" y="1481400"/>
            <a:ext cx="411444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Temel Sistem &amp; Arayüz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199" name="CustomShape 8"/>
          <p:cNvSpPr/>
          <p:nvPr/>
        </p:nvSpPr>
        <p:spPr>
          <a:xfrm>
            <a:off x="438840" y="1828800"/>
            <a:ext cx="4114440" cy="38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85a8b5"/>
                </a:solidFill>
                <a:latin typeface="Calibri"/>
                <a:ea typeface="Calibri"/>
              </a:rPr>
              <a:t>Kullanıcı kayıt/giriş sistemi · Şehir, tarih ve bütçe ekranları · Veritabanı bağlantıları · API entegrasyon başlangıcı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200" name="CustomShape 9"/>
          <p:cNvSpPr/>
          <p:nvPr/>
        </p:nvSpPr>
        <p:spPr>
          <a:xfrm>
            <a:off x="274320" y="2395800"/>
            <a:ext cx="4388760" cy="117000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0160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CustomShape 10"/>
          <p:cNvSpPr/>
          <p:nvPr/>
        </p:nvSpPr>
        <p:spPr>
          <a:xfrm>
            <a:off x="274320" y="2395800"/>
            <a:ext cx="72720" cy="1170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CustomShape 11"/>
          <p:cNvSpPr/>
          <p:nvPr/>
        </p:nvSpPr>
        <p:spPr>
          <a:xfrm>
            <a:off x="438840" y="2487240"/>
            <a:ext cx="10969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e8a838"/>
                </a:solidFill>
                <a:latin typeface="Calibri"/>
                <a:ea typeface="Calibri"/>
              </a:rPr>
              <a:t>Sprint 2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03" name="CustomShape 12"/>
          <p:cNvSpPr/>
          <p:nvPr/>
        </p:nvSpPr>
        <p:spPr>
          <a:xfrm>
            <a:off x="438840" y="2779920"/>
            <a:ext cx="411444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Akıllı Planlama Sistemi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04" name="CustomShape 13"/>
          <p:cNvSpPr/>
          <p:nvPr/>
        </p:nvSpPr>
        <p:spPr>
          <a:xfrm>
            <a:off x="438840" y="3127320"/>
            <a:ext cx="4114440" cy="38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85a8b5"/>
                </a:solidFill>
                <a:latin typeface="Calibri"/>
                <a:ea typeface="Calibri"/>
              </a:rPr>
              <a:t>Otel öneri algoritması · Restoran filtreleme &amp; puanlama · Trafik verisi entegrasyonu · Harita &amp; açılış saati kontrolü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205" name="CustomShape 14"/>
          <p:cNvSpPr/>
          <p:nvPr/>
        </p:nvSpPr>
        <p:spPr>
          <a:xfrm>
            <a:off x="274320" y="3694320"/>
            <a:ext cx="4388760" cy="1170000"/>
          </a:xfrm>
          <a:prstGeom prst="rect">
            <a:avLst/>
          </a:prstGeom>
          <a:solidFill>
            <a:srgbClr val="132233"/>
          </a:solidFill>
          <a:ln>
            <a:noFill/>
          </a:ln>
          <a:effectLst>
            <a:outerShdw algn="bl" blurRad="101600" dir="8100000" dist="25455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6" name="CustomShape 15"/>
          <p:cNvSpPr/>
          <p:nvPr/>
        </p:nvSpPr>
        <p:spPr>
          <a:xfrm>
            <a:off x="274320" y="3694320"/>
            <a:ext cx="72720" cy="1170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CustomShape 16"/>
          <p:cNvSpPr/>
          <p:nvPr/>
        </p:nvSpPr>
        <p:spPr>
          <a:xfrm>
            <a:off x="438840" y="3785760"/>
            <a:ext cx="10969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200" spc="-1" strike="noStrike">
                <a:solidFill>
                  <a:srgbClr val="ff6b6b"/>
                </a:solidFill>
                <a:latin typeface="Calibri"/>
                <a:ea typeface="Calibri"/>
              </a:rPr>
              <a:t>Sprint 3</a:t>
            </a:r>
            <a:endParaRPr b="0" lang="tr-TR" sz="1200" spc="-1" strike="noStrike">
              <a:latin typeface="Arial"/>
            </a:endParaRPr>
          </a:p>
        </p:txBody>
      </p:sp>
      <p:sp>
        <p:nvSpPr>
          <p:cNvPr id="208" name="CustomShape 17"/>
          <p:cNvSpPr/>
          <p:nvPr/>
        </p:nvSpPr>
        <p:spPr>
          <a:xfrm>
            <a:off x="438840" y="4078080"/>
            <a:ext cx="411444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400" spc="-1" strike="noStrike">
                <a:solidFill>
                  <a:srgbClr val="ffffff"/>
                </a:solidFill>
                <a:latin typeface="Calibri"/>
                <a:ea typeface="Calibri"/>
              </a:rPr>
              <a:t>Rota, Aktiviteler &amp; Final</a:t>
            </a:r>
            <a:endParaRPr b="0" lang="tr-TR" sz="1400" spc="-1" strike="noStrike">
              <a:latin typeface="Arial"/>
            </a:endParaRPr>
          </a:p>
        </p:txBody>
      </p:sp>
      <p:sp>
        <p:nvSpPr>
          <p:cNvPr id="209" name="CustomShape 18"/>
          <p:cNvSpPr/>
          <p:nvPr/>
        </p:nvSpPr>
        <p:spPr>
          <a:xfrm>
            <a:off x="438840" y="4425840"/>
            <a:ext cx="4114440" cy="38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00" spc="-1" strike="noStrike">
                <a:solidFill>
                  <a:srgbClr val="85a8b5"/>
                </a:solidFill>
                <a:latin typeface="Calibri"/>
                <a:ea typeface="Calibri"/>
              </a:rPr>
              <a:t>Saatlik gezi planı motoru · Alternatif etkinlik önerileri · Test &amp; hata düzeltme · Kullanıcıya plan sunumu</a:t>
            </a:r>
            <a:endParaRPr b="0" lang="tr-TR" sz="1000" spc="-1" strike="noStrike">
              <a:latin typeface="Arial"/>
            </a:endParaRPr>
          </a:p>
        </p:txBody>
      </p:sp>
      <p:sp>
        <p:nvSpPr>
          <p:cNvPr id="210" name="CustomShape 19"/>
          <p:cNvSpPr/>
          <p:nvPr/>
        </p:nvSpPr>
        <p:spPr>
          <a:xfrm>
            <a:off x="274320" y="4800600"/>
            <a:ext cx="4388760" cy="273960"/>
          </a:xfrm>
          <a:prstGeom prst="rect">
            <a:avLst/>
          </a:prstGeom>
          <a:solidFill>
            <a:srgbClr val="0d253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CustomShape 20"/>
          <p:cNvSpPr/>
          <p:nvPr/>
        </p:nvSpPr>
        <p:spPr>
          <a:xfrm>
            <a:off x="384120" y="4818960"/>
            <a:ext cx="41601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028090"/>
                </a:solidFill>
                <a:latin typeface="Calibri"/>
                <a:ea typeface="Calibri"/>
              </a:rPr>
              <a:t>Product Owner · Scrum Master · Development Team</a:t>
            </a:r>
            <a:endParaRPr b="0" lang="tr-T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CustomShape 2"/>
          <p:cNvSpPr/>
          <p:nvPr/>
        </p:nvSpPr>
        <p:spPr>
          <a:xfrm>
            <a:off x="365760" y="128160"/>
            <a:ext cx="841212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2600" spc="-1" strike="noStrike">
                <a:solidFill>
                  <a:srgbClr val="ffffff"/>
                </a:solidFill>
                <a:latin typeface="Calibri"/>
                <a:ea typeface="Calibri"/>
              </a:rPr>
              <a:t>⚠️  </a:t>
            </a:r>
            <a:r>
              <a:rPr b="1" lang="tr-TR" sz="2600" spc="-1" strike="noStrike">
                <a:solidFill>
                  <a:srgbClr val="ffffff"/>
                </a:solidFill>
                <a:latin typeface="Calibri"/>
                <a:ea typeface="Calibri"/>
              </a:rPr>
              <a:t>Olası Problemler &amp; Çözümler</a:t>
            </a:r>
            <a:endParaRPr b="0" lang="tr-TR" sz="2600" spc="-1" strike="noStrike">
              <a:latin typeface="Arial"/>
            </a:endParaRPr>
          </a:p>
        </p:txBody>
      </p:sp>
      <p:sp>
        <p:nvSpPr>
          <p:cNvPr id="214" name="CustomShape 3"/>
          <p:cNvSpPr/>
          <p:nvPr/>
        </p:nvSpPr>
        <p:spPr>
          <a:xfrm>
            <a:off x="255960" y="1024200"/>
            <a:ext cx="4251600" cy="859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6350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CustomShape 4"/>
          <p:cNvSpPr/>
          <p:nvPr/>
        </p:nvSpPr>
        <p:spPr>
          <a:xfrm>
            <a:off x="255960" y="1024200"/>
            <a:ext cx="2011320" cy="859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CustomShape 5"/>
          <p:cNvSpPr/>
          <p:nvPr/>
        </p:nvSpPr>
        <p:spPr>
          <a:xfrm>
            <a:off x="347400" y="1152000"/>
            <a:ext cx="18284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⚠️  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Trafik verisi güncel olmayabilir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17" name="CustomShape 6"/>
          <p:cNvSpPr/>
          <p:nvPr/>
        </p:nvSpPr>
        <p:spPr>
          <a:xfrm>
            <a:off x="2359080" y="1152000"/>
            <a:ext cx="20570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✅  </a:t>
            </a: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Gerçek zamanlı API + alternatif rota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18" name="Line 7"/>
          <p:cNvSpPr/>
          <p:nvPr/>
        </p:nvSpPr>
        <p:spPr>
          <a:xfrm>
            <a:off x="2295000" y="1023840"/>
            <a:ext cx="0" cy="859680"/>
          </a:xfrm>
          <a:prstGeom prst="line">
            <a:avLst/>
          </a:prstGeom>
          <a:ln w="12600">
            <a:solidFill>
              <a:srgbClr val="dde8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CustomShape 8"/>
          <p:cNvSpPr/>
          <p:nvPr/>
        </p:nvSpPr>
        <p:spPr>
          <a:xfrm>
            <a:off x="4800600" y="1024200"/>
            <a:ext cx="4251600" cy="859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6350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0" name="CustomShape 9"/>
          <p:cNvSpPr/>
          <p:nvPr/>
        </p:nvSpPr>
        <p:spPr>
          <a:xfrm>
            <a:off x="4800600" y="1024200"/>
            <a:ext cx="2011320" cy="859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CustomShape 10"/>
          <p:cNvSpPr/>
          <p:nvPr/>
        </p:nvSpPr>
        <p:spPr>
          <a:xfrm>
            <a:off x="4892040" y="1152000"/>
            <a:ext cx="18284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⚠️  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Açılış saati hataları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22" name="CustomShape 11"/>
          <p:cNvSpPr/>
          <p:nvPr/>
        </p:nvSpPr>
        <p:spPr>
          <a:xfrm>
            <a:off x="6903720" y="1152000"/>
            <a:ext cx="20570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✅  </a:t>
            </a: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Otomatik yenileme + kullanıcı uyarısı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23" name="Line 12"/>
          <p:cNvSpPr/>
          <p:nvPr/>
        </p:nvSpPr>
        <p:spPr>
          <a:xfrm>
            <a:off x="6839640" y="1023840"/>
            <a:ext cx="0" cy="859680"/>
          </a:xfrm>
          <a:prstGeom prst="line">
            <a:avLst/>
          </a:prstGeom>
          <a:ln w="12600">
            <a:solidFill>
              <a:srgbClr val="dde8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CustomShape 13"/>
          <p:cNvSpPr/>
          <p:nvPr/>
        </p:nvSpPr>
        <p:spPr>
          <a:xfrm>
            <a:off x="255960" y="2030040"/>
            <a:ext cx="4251600" cy="859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6350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CustomShape 14"/>
          <p:cNvSpPr/>
          <p:nvPr/>
        </p:nvSpPr>
        <p:spPr>
          <a:xfrm>
            <a:off x="255960" y="2030040"/>
            <a:ext cx="2011320" cy="859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CustomShape 15"/>
          <p:cNvSpPr/>
          <p:nvPr/>
        </p:nvSpPr>
        <p:spPr>
          <a:xfrm>
            <a:off x="347400" y="2157840"/>
            <a:ext cx="18284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⚠️  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API</a:t>
            </a:r>
            <a:r>
              <a:rPr b="0" lang="tr-TR" sz="105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tr-TR" sz="1050" spc="-1" strike="noStrike">
                <a:solidFill>
                  <a:srgbClr val="843c0b"/>
                </a:solidFill>
                <a:latin typeface="Calibri"/>
                <a:ea typeface="Calibri"/>
              </a:rPr>
              <a:t>(Uygulama Programlama Arayüzü)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 bağlantı sorunları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27" name="CustomShape 16"/>
          <p:cNvSpPr/>
          <p:nvPr/>
        </p:nvSpPr>
        <p:spPr>
          <a:xfrm>
            <a:off x="2359080" y="2157840"/>
            <a:ext cx="20570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✅  </a:t>
            </a: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Yedek API + önbellekleme sistemi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28" name="Line 17"/>
          <p:cNvSpPr/>
          <p:nvPr/>
        </p:nvSpPr>
        <p:spPr>
          <a:xfrm>
            <a:off x="2295000" y="2029680"/>
            <a:ext cx="0" cy="859680"/>
          </a:xfrm>
          <a:prstGeom prst="line">
            <a:avLst/>
          </a:prstGeom>
          <a:ln w="12600">
            <a:solidFill>
              <a:srgbClr val="dde8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CustomShape 18"/>
          <p:cNvSpPr/>
          <p:nvPr/>
        </p:nvSpPr>
        <p:spPr>
          <a:xfrm>
            <a:off x="4800600" y="2030040"/>
            <a:ext cx="4251600" cy="859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6350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CustomShape 19"/>
          <p:cNvSpPr/>
          <p:nvPr/>
        </p:nvSpPr>
        <p:spPr>
          <a:xfrm>
            <a:off x="4800600" y="2030040"/>
            <a:ext cx="2011320" cy="859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CustomShape 20"/>
          <p:cNvSpPr/>
          <p:nvPr/>
        </p:nvSpPr>
        <p:spPr>
          <a:xfrm>
            <a:off x="4892040" y="2157840"/>
            <a:ext cx="18284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⚠️  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Bütçe aşımı riski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32" name="CustomShape 21"/>
          <p:cNvSpPr/>
          <p:nvPr/>
        </p:nvSpPr>
        <p:spPr>
          <a:xfrm>
            <a:off x="6903720" y="2157840"/>
            <a:ext cx="20570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✅  </a:t>
            </a: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Fiyat filtreleme + harcama limiti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33" name="Line 22"/>
          <p:cNvSpPr/>
          <p:nvPr/>
        </p:nvSpPr>
        <p:spPr>
          <a:xfrm>
            <a:off x="6839640" y="2029680"/>
            <a:ext cx="0" cy="859680"/>
          </a:xfrm>
          <a:prstGeom prst="line">
            <a:avLst/>
          </a:prstGeom>
          <a:ln w="12600">
            <a:solidFill>
              <a:srgbClr val="dde8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CustomShape 23"/>
          <p:cNvSpPr/>
          <p:nvPr/>
        </p:nvSpPr>
        <p:spPr>
          <a:xfrm>
            <a:off x="255960" y="3035880"/>
            <a:ext cx="4251600" cy="859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6350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CustomShape 24"/>
          <p:cNvSpPr/>
          <p:nvPr/>
        </p:nvSpPr>
        <p:spPr>
          <a:xfrm>
            <a:off x="255960" y="3035880"/>
            <a:ext cx="2011320" cy="859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CustomShape 25"/>
          <p:cNvSpPr/>
          <p:nvPr/>
        </p:nvSpPr>
        <p:spPr>
          <a:xfrm>
            <a:off x="347400" y="3163680"/>
            <a:ext cx="18284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⚠️  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Rota optimizasyon hatası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37" name="CustomShape 26"/>
          <p:cNvSpPr/>
          <p:nvPr/>
        </p:nvSpPr>
        <p:spPr>
          <a:xfrm>
            <a:off x="2359080" y="3163680"/>
            <a:ext cx="20570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✅  </a:t>
            </a: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En kısa yol algoritmaları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38" name="Line 27"/>
          <p:cNvSpPr/>
          <p:nvPr/>
        </p:nvSpPr>
        <p:spPr>
          <a:xfrm>
            <a:off x="2295000" y="3035520"/>
            <a:ext cx="0" cy="859680"/>
          </a:xfrm>
          <a:prstGeom prst="line">
            <a:avLst/>
          </a:prstGeom>
          <a:ln w="12600">
            <a:solidFill>
              <a:srgbClr val="dde8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CustomShape 28"/>
          <p:cNvSpPr/>
          <p:nvPr/>
        </p:nvSpPr>
        <p:spPr>
          <a:xfrm>
            <a:off x="4800600" y="3035880"/>
            <a:ext cx="4251600" cy="859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6350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CustomShape 29"/>
          <p:cNvSpPr/>
          <p:nvPr/>
        </p:nvSpPr>
        <p:spPr>
          <a:xfrm>
            <a:off x="4800600" y="3035880"/>
            <a:ext cx="2011320" cy="859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CustomShape 30"/>
          <p:cNvSpPr/>
          <p:nvPr/>
        </p:nvSpPr>
        <p:spPr>
          <a:xfrm>
            <a:off x="4892040" y="3163680"/>
            <a:ext cx="18284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⚠️  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Yoğun sistem kullanımı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42" name="CustomShape 31"/>
          <p:cNvSpPr/>
          <p:nvPr/>
        </p:nvSpPr>
        <p:spPr>
          <a:xfrm>
            <a:off x="6903720" y="3163680"/>
            <a:ext cx="20570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✅  </a:t>
            </a: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Bulut tabanlı altyapı + önbellekleme sistemi +veritabanı optimizasyonu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43" name="Line 32"/>
          <p:cNvSpPr/>
          <p:nvPr/>
        </p:nvSpPr>
        <p:spPr>
          <a:xfrm>
            <a:off x="6839640" y="3035520"/>
            <a:ext cx="0" cy="859680"/>
          </a:xfrm>
          <a:prstGeom prst="line">
            <a:avLst/>
          </a:prstGeom>
          <a:ln w="12600">
            <a:solidFill>
              <a:srgbClr val="dde8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CustomShape 33"/>
          <p:cNvSpPr/>
          <p:nvPr/>
        </p:nvSpPr>
        <p:spPr>
          <a:xfrm>
            <a:off x="255960" y="4041720"/>
            <a:ext cx="4251600" cy="859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6350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CustomShape 34"/>
          <p:cNvSpPr/>
          <p:nvPr/>
        </p:nvSpPr>
        <p:spPr>
          <a:xfrm>
            <a:off x="255960" y="4041720"/>
            <a:ext cx="2011320" cy="859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CustomShape 35"/>
          <p:cNvSpPr/>
          <p:nvPr/>
        </p:nvSpPr>
        <p:spPr>
          <a:xfrm>
            <a:off x="347400" y="4169520"/>
            <a:ext cx="18284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⚠️  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GPS konum hataları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47" name="CustomShape 36"/>
          <p:cNvSpPr/>
          <p:nvPr/>
        </p:nvSpPr>
        <p:spPr>
          <a:xfrm>
            <a:off x="2359080" y="4169520"/>
            <a:ext cx="20570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✅  </a:t>
            </a: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Konum doğrulama + manuel seçim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48" name="Line 37"/>
          <p:cNvSpPr/>
          <p:nvPr/>
        </p:nvSpPr>
        <p:spPr>
          <a:xfrm>
            <a:off x="2295000" y="4041360"/>
            <a:ext cx="0" cy="859680"/>
          </a:xfrm>
          <a:prstGeom prst="line">
            <a:avLst/>
          </a:prstGeom>
          <a:ln w="12600">
            <a:solidFill>
              <a:srgbClr val="dde8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CustomShape 38"/>
          <p:cNvSpPr/>
          <p:nvPr/>
        </p:nvSpPr>
        <p:spPr>
          <a:xfrm>
            <a:off x="4800600" y="4041720"/>
            <a:ext cx="4251600" cy="859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6350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CustomShape 39"/>
          <p:cNvSpPr/>
          <p:nvPr/>
        </p:nvSpPr>
        <p:spPr>
          <a:xfrm>
            <a:off x="4800600" y="4041720"/>
            <a:ext cx="2011320" cy="8593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CustomShape 40"/>
          <p:cNvSpPr/>
          <p:nvPr/>
        </p:nvSpPr>
        <p:spPr>
          <a:xfrm>
            <a:off x="4892040" y="4169520"/>
            <a:ext cx="18284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⚠️  </a:t>
            </a:r>
            <a:r>
              <a:rPr b="0" lang="tr-TR" sz="1050" spc="-1" strike="noStrike">
                <a:solidFill>
                  <a:srgbClr val="8b4000"/>
                </a:solidFill>
                <a:latin typeface="Calibri"/>
                <a:ea typeface="Calibri"/>
              </a:rPr>
              <a:t>Karmaşık kullanıcı arayüzü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52" name="CustomShape 41"/>
          <p:cNvSpPr/>
          <p:nvPr/>
        </p:nvSpPr>
        <p:spPr>
          <a:xfrm>
            <a:off x="6903720" y="4169520"/>
            <a:ext cx="2057040" cy="60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✅  </a:t>
            </a:r>
            <a:r>
              <a:rPr b="0" lang="tr-TR" sz="1050" spc="-1" strike="noStrike">
                <a:solidFill>
                  <a:srgbClr val="1a5c3a"/>
                </a:solidFill>
                <a:latin typeface="Calibri"/>
                <a:ea typeface="Calibri"/>
              </a:rPr>
              <a:t>Basit tasarım + kullanıcı testi</a:t>
            </a:r>
            <a:endParaRPr b="0" lang="tr-TR" sz="1050" spc="-1" strike="noStrike">
              <a:latin typeface="Arial"/>
            </a:endParaRPr>
          </a:p>
        </p:txBody>
      </p:sp>
      <p:sp>
        <p:nvSpPr>
          <p:cNvPr id="253" name="Line 42"/>
          <p:cNvSpPr/>
          <p:nvPr/>
        </p:nvSpPr>
        <p:spPr>
          <a:xfrm>
            <a:off x="6839640" y="4041360"/>
            <a:ext cx="0" cy="859680"/>
          </a:xfrm>
          <a:prstGeom prst="line">
            <a:avLst/>
          </a:prstGeom>
          <a:ln w="12600">
            <a:solidFill>
              <a:srgbClr val="dde8ec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Image 0" descr=""/>
          <p:cNvPicPr/>
          <p:nvPr/>
        </p:nvPicPr>
        <p:blipFill>
          <a:blip r:embed="rId1"/>
          <a:stretch/>
        </p:blipFill>
        <p:spPr>
          <a:xfrm>
            <a:off x="0" y="0"/>
            <a:ext cx="3931560" cy="5143320"/>
          </a:xfrm>
          <a:prstGeom prst="rect">
            <a:avLst/>
          </a:prstGeom>
          <a:ln>
            <a:noFill/>
          </a:ln>
        </p:spPr>
      </p:pic>
      <p:sp>
        <p:nvSpPr>
          <p:cNvPr id="255" name="CustomShape 1"/>
          <p:cNvSpPr/>
          <p:nvPr/>
        </p:nvSpPr>
        <p:spPr>
          <a:xfrm>
            <a:off x="0" y="0"/>
            <a:ext cx="4034880" cy="5143320"/>
          </a:xfrm>
          <a:prstGeom prst="rect">
            <a:avLst/>
          </a:prstGeom>
          <a:solidFill>
            <a:srgbClr val="000000">
              <a:alpha val="62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CustomShape 2"/>
          <p:cNvSpPr/>
          <p:nvPr/>
        </p:nvSpPr>
        <p:spPr>
          <a:xfrm>
            <a:off x="3931920" y="0"/>
            <a:ext cx="5211720" cy="5143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CustomShape 3"/>
          <p:cNvSpPr/>
          <p:nvPr/>
        </p:nvSpPr>
        <p:spPr>
          <a:xfrm>
            <a:off x="4114800" y="255960"/>
            <a:ext cx="4663080" cy="59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2700" spc="-1" strike="noStrike">
                <a:solidFill>
                  <a:srgbClr val="ffffff"/>
                </a:solidFill>
                <a:latin typeface="Calibri"/>
                <a:ea typeface="Calibri"/>
              </a:rPr>
              <a:t>Projenin Avantajları</a:t>
            </a:r>
            <a:endParaRPr b="0" lang="tr-TR" sz="2700" spc="-1" strike="noStrike">
              <a:latin typeface="Arial"/>
            </a:endParaRPr>
          </a:p>
        </p:txBody>
      </p:sp>
      <p:sp>
        <p:nvSpPr>
          <p:cNvPr id="258" name="CustomShape 4"/>
          <p:cNvSpPr/>
          <p:nvPr/>
        </p:nvSpPr>
        <p:spPr>
          <a:xfrm>
            <a:off x="4114800" y="887040"/>
            <a:ext cx="1919880" cy="63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CustomShape 5"/>
          <p:cNvSpPr/>
          <p:nvPr/>
        </p:nvSpPr>
        <p:spPr>
          <a:xfrm>
            <a:off x="4069080" y="1170360"/>
            <a:ext cx="4752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800" spc="-1" strike="noStrike">
                <a:solidFill>
                  <a:srgbClr val="000000"/>
                </a:solidFill>
                <a:latin typeface="Calibri"/>
              </a:rPr>
              <a:t>⏱️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260" name="CustomShape 6"/>
          <p:cNvSpPr/>
          <p:nvPr/>
        </p:nvSpPr>
        <p:spPr>
          <a:xfrm>
            <a:off x="4617720" y="1143000"/>
            <a:ext cx="4297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02c39a"/>
                </a:solidFill>
                <a:latin typeface="Calibri"/>
                <a:ea typeface="Calibri"/>
              </a:rPr>
              <a:t>Zaman Tasarrufu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261" name="CustomShape 7"/>
          <p:cNvSpPr/>
          <p:nvPr/>
        </p:nvSpPr>
        <p:spPr>
          <a:xfrm>
            <a:off x="4617720" y="1426320"/>
            <a:ext cx="429732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a0bec8"/>
                </a:solidFill>
                <a:latin typeface="Calibri"/>
                <a:ea typeface="Calibri"/>
              </a:rPr>
              <a:t>Tüm planlama tek uygulamada.Tatil için uzun araştırma süresi ortadan kalkar.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62" name="Line 8"/>
          <p:cNvSpPr/>
          <p:nvPr/>
        </p:nvSpPr>
        <p:spPr>
          <a:xfrm>
            <a:off x="4069080" y="1700640"/>
            <a:ext cx="4663440" cy="0"/>
          </a:xfrm>
          <a:prstGeom prst="line">
            <a:avLst/>
          </a:prstGeom>
          <a:ln w="9360">
            <a:solidFill>
              <a:srgbClr val="1e35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CustomShape 9"/>
          <p:cNvSpPr/>
          <p:nvPr/>
        </p:nvSpPr>
        <p:spPr>
          <a:xfrm>
            <a:off x="4069080" y="1819800"/>
            <a:ext cx="4752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800" spc="-1" strike="noStrike">
                <a:solidFill>
                  <a:srgbClr val="000000"/>
                </a:solidFill>
                <a:latin typeface="Calibri"/>
              </a:rPr>
              <a:t>🎯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264" name="CustomShape 10"/>
          <p:cNvSpPr/>
          <p:nvPr/>
        </p:nvSpPr>
        <p:spPr>
          <a:xfrm>
            <a:off x="4617720" y="1792080"/>
            <a:ext cx="4297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02c39a"/>
                </a:solidFill>
                <a:latin typeface="Calibri"/>
                <a:ea typeface="Calibri"/>
              </a:rPr>
              <a:t>Kararsızlığı Giderir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265" name="CustomShape 11"/>
          <p:cNvSpPr/>
          <p:nvPr/>
        </p:nvSpPr>
        <p:spPr>
          <a:xfrm>
            <a:off x="4617720" y="2075760"/>
            <a:ext cx="429732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a0bec8"/>
                </a:solidFill>
                <a:latin typeface="Calibri"/>
                <a:ea typeface="Calibri"/>
              </a:rPr>
              <a:t>Saatlik program ile net yol haritası sunar.Gün daha düzenli ve verimli geçer.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66" name="Line 12"/>
          <p:cNvSpPr/>
          <p:nvPr/>
        </p:nvSpPr>
        <p:spPr>
          <a:xfrm>
            <a:off x="4069080" y="2349720"/>
            <a:ext cx="4663440" cy="0"/>
          </a:xfrm>
          <a:prstGeom prst="line">
            <a:avLst/>
          </a:prstGeom>
          <a:ln w="9360">
            <a:solidFill>
              <a:srgbClr val="1e35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CustomShape 13"/>
          <p:cNvSpPr/>
          <p:nvPr/>
        </p:nvSpPr>
        <p:spPr>
          <a:xfrm>
            <a:off x="4069080" y="2468880"/>
            <a:ext cx="4752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800" spc="-1" strike="noStrike">
                <a:solidFill>
                  <a:srgbClr val="000000"/>
                </a:solidFill>
                <a:latin typeface="Calibri"/>
              </a:rPr>
              <a:t>👤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268" name="CustomShape 14"/>
          <p:cNvSpPr/>
          <p:nvPr/>
        </p:nvSpPr>
        <p:spPr>
          <a:xfrm>
            <a:off x="4617720" y="2441520"/>
            <a:ext cx="4297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02c39a"/>
                </a:solidFill>
                <a:latin typeface="Calibri"/>
                <a:ea typeface="Calibri"/>
              </a:rPr>
              <a:t>Kişiselleştirilmiş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269" name="CustomShape 15"/>
          <p:cNvSpPr/>
          <p:nvPr/>
        </p:nvSpPr>
        <p:spPr>
          <a:xfrm>
            <a:off x="4617720" y="2724840"/>
            <a:ext cx="429732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a0bec8"/>
                </a:solidFill>
                <a:latin typeface="Calibri"/>
                <a:ea typeface="Calibri"/>
              </a:rPr>
              <a:t>Bütçe, ilgi ve araç bazlı plan.Kişiselleştirilmiş bir deneyim sunar.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70" name="Line 16"/>
          <p:cNvSpPr/>
          <p:nvPr/>
        </p:nvSpPr>
        <p:spPr>
          <a:xfrm>
            <a:off x="4069080" y="2999160"/>
            <a:ext cx="4663440" cy="0"/>
          </a:xfrm>
          <a:prstGeom prst="line">
            <a:avLst/>
          </a:prstGeom>
          <a:ln w="9360">
            <a:solidFill>
              <a:srgbClr val="1e35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CustomShape 17"/>
          <p:cNvSpPr/>
          <p:nvPr/>
        </p:nvSpPr>
        <p:spPr>
          <a:xfrm>
            <a:off x="4069080" y="3117960"/>
            <a:ext cx="4752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800" spc="-1" strike="noStrike">
                <a:solidFill>
                  <a:srgbClr val="000000"/>
                </a:solidFill>
                <a:latin typeface="Calibri"/>
              </a:rPr>
              <a:t>🚦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272" name="CustomShape 18"/>
          <p:cNvSpPr/>
          <p:nvPr/>
        </p:nvSpPr>
        <p:spPr>
          <a:xfrm>
            <a:off x="4617720" y="3090600"/>
            <a:ext cx="4297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02c39a"/>
                </a:solidFill>
                <a:latin typeface="Calibri"/>
                <a:ea typeface="Calibri"/>
              </a:rPr>
              <a:t>Trafik Yönetimi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273" name="CustomShape 19"/>
          <p:cNvSpPr/>
          <p:nvPr/>
        </p:nvSpPr>
        <p:spPr>
          <a:xfrm>
            <a:off x="4617720" y="3374280"/>
            <a:ext cx="429732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a0bec8"/>
                </a:solidFill>
                <a:latin typeface="Calibri"/>
                <a:ea typeface="Calibri"/>
              </a:rPr>
              <a:t>Gerçek zamanlı rota optimizasyonu.Zaman kaybı olmadan plan uygulanır.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74" name="Line 20"/>
          <p:cNvSpPr/>
          <p:nvPr/>
        </p:nvSpPr>
        <p:spPr>
          <a:xfrm>
            <a:off x="4069080" y="3648240"/>
            <a:ext cx="4663440" cy="0"/>
          </a:xfrm>
          <a:prstGeom prst="line">
            <a:avLst/>
          </a:prstGeom>
          <a:ln w="9360">
            <a:solidFill>
              <a:srgbClr val="1e35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CustomShape 21"/>
          <p:cNvSpPr/>
          <p:nvPr/>
        </p:nvSpPr>
        <p:spPr>
          <a:xfrm>
            <a:off x="4069080" y="3767400"/>
            <a:ext cx="4752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800" spc="-1" strike="noStrike">
                <a:solidFill>
                  <a:srgbClr val="000000"/>
                </a:solidFill>
                <a:latin typeface="Calibri"/>
              </a:rPr>
              <a:t>✨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276" name="CustomShape 22"/>
          <p:cNvSpPr/>
          <p:nvPr/>
        </p:nvSpPr>
        <p:spPr>
          <a:xfrm>
            <a:off x="4617720" y="3740040"/>
            <a:ext cx="4297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02c39a"/>
                </a:solidFill>
                <a:latin typeface="Calibri"/>
                <a:ea typeface="Calibri"/>
              </a:rPr>
              <a:t>Yeni Deneyimler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277" name="CustomShape 23"/>
          <p:cNvSpPr/>
          <p:nvPr/>
        </p:nvSpPr>
        <p:spPr>
          <a:xfrm>
            <a:off x="4617720" y="4023360"/>
            <a:ext cx="429732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a0bec8"/>
                </a:solidFill>
                <a:latin typeface="Calibri"/>
                <a:ea typeface="Calibri"/>
              </a:rPr>
              <a:t>Popüler yerler dışında farklı yerler sunar.Deneyimi zenginleştirir.</a:t>
            </a:r>
            <a:endParaRPr b="0" lang="tr-TR" sz="1100" spc="-1" strike="noStrike">
              <a:latin typeface="Arial"/>
            </a:endParaRPr>
          </a:p>
        </p:txBody>
      </p:sp>
      <p:sp>
        <p:nvSpPr>
          <p:cNvPr id="278" name="Line 24"/>
          <p:cNvSpPr/>
          <p:nvPr/>
        </p:nvSpPr>
        <p:spPr>
          <a:xfrm>
            <a:off x="4069080" y="4297680"/>
            <a:ext cx="4663440" cy="0"/>
          </a:xfrm>
          <a:prstGeom prst="line">
            <a:avLst/>
          </a:prstGeom>
          <a:ln w="9360">
            <a:solidFill>
              <a:srgbClr val="1e354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CustomShape 25"/>
          <p:cNvSpPr/>
          <p:nvPr/>
        </p:nvSpPr>
        <p:spPr>
          <a:xfrm>
            <a:off x="4069080" y="4416480"/>
            <a:ext cx="4752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800" spc="-1" strike="noStrike">
                <a:solidFill>
                  <a:srgbClr val="000000"/>
                </a:solidFill>
                <a:latin typeface="Calibri"/>
              </a:rPr>
              <a:t>😌</a:t>
            </a:r>
            <a:endParaRPr b="0" lang="tr-TR" sz="1800" spc="-1" strike="noStrike">
              <a:latin typeface="Arial"/>
            </a:endParaRPr>
          </a:p>
        </p:txBody>
      </p:sp>
      <p:sp>
        <p:nvSpPr>
          <p:cNvPr id="280" name="CustomShape 26"/>
          <p:cNvSpPr/>
          <p:nvPr/>
        </p:nvSpPr>
        <p:spPr>
          <a:xfrm>
            <a:off x="4617720" y="4389120"/>
            <a:ext cx="4297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tr-TR" sz="1300" spc="-1" strike="noStrike">
                <a:solidFill>
                  <a:srgbClr val="02c39a"/>
                </a:solidFill>
                <a:latin typeface="Calibri"/>
                <a:ea typeface="Calibri"/>
              </a:rPr>
              <a:t>Stres Azaltır</a:t>
            </a:r>
            <a:endParaRPr b="0" lang="tr-TR" sz="1300" spc="-1" strike="noStrike">
              <a:latin typeface="Arial"/>
            </a:endParaRPr>
          </a:p>
        </p:txBody>
      </p:sp>
      <p:sp>
        <p:nvSpPr>
          <p:cNvPr id="281" name="CustomShape 27"/>
          <p:cNvSpPr/>
          <p:nvPr/>
        </p:nvSpPr>
        <p:spPr>
          <a:xfrm>
            <a:off x="4617720" y="4672440"/>
            <a:ext cx="429732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tr-TR" sz="1100" spc="-1" strike="noStrike">
                <a:solidFill>
                  <a:srgbClr val="a0bec8"/>
                </a:solidFill>
                <a:latin typeface="Calibri"/>
                <a:ea typeface="Calibri"/>
              </a:rPr>
              <a:t>Otomatik planlama ile rahat seyahat.Tek tek düşünme sorunu ortadan kalkar,stres azalır.</a:t>
            </a:r>
            <a:endParaRPr b="0" lang="tr-T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Image 0" descr=""/>
          <p:cNvPicPr/>
          <p:nvPr/>
        </p:nvPicPr>
        <p:blipFill>
          <a:blip r:embed="rId1"/>
          <a:stretch/>
        </p:blipFill>
        <p:spPr>
          <a:xfrm>
            <a:off x="-936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283" name="CustomShape 1"/>
          <p:cNvSpPr/>
          <p:nvPr/>
        </p:nvSpPr>
        <p:spPr>
          <a:xfrm>
            <a:off x="-9360" y="0"/>
            <a:ext cx="9231480" cy="5143320"/>
          </a:xfrm>
          <a:prstGeom prst="rect">
            <a:avLst/>
          </a:prstGeom>
          <a:solidFill>
            <a:srgbClr val="000000">
              <a:alpha val="62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CustomShape 2"/>
          <p:cNvSpPr/>
          <p:nvPr/>
        </p:nvSpPr>
        <p:spPr>
          <a:xfrm>
            <a:off x="1645920" y="1280160"/>
            <a:ext cx="5851800" cy="2651400"/>
          </a:xfrm>
          <a:prstGeom prst="rect">
            <a:avLst/>
          </a:prstGeom>
          <a:solidFill>
            <a:srgbClr val="000000">
              <a:alpha val="58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CustomShape 3"/>
          <p:cNvSpPr/>
          <p:nvPr/>
        </p:nvSpPr>
        <p:spPr>
          <a:xfrm>
            <a:off x="1645920" y="1417320"/>
            <a:ext cx="5851800" cy="100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tr-TR" sz="6000" spc="-1" strike="noStrike">
                <a:solidFill>
                  <a:srgbClr val="ffffff"/>
                </a:solidFill>
                <a:latin typeface="Calibri"/>
                <a:ea typeface="Calibri"/>
              </a:rPr>
              <a:t>SmartTrip</a:t>
            </a:r>
            <a:endParaRPr b="0" lang="tr-TR" sz="6000" spc="-1" strike="noStrike">
              <a:latin typeface="Arial"/>
            </a:endParaRPr>
          </a:p>
        </p:txBody>
      </p:sp>
      <p:sp>
        <p:nvSpPr>
          <p:cNvPr id="286" name="CustomShape 4"/>
          <p:cNvSpPr/>
          <p:nvPr/>
        </p:nvSpPr>
        <p:spPr>
          <a:xfrm>
            <a:off x="1645920" y="2468880"/>
            <a:ext cx="585180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tr-TR" sz="2100" spc="-1" strike="noStrike">
                <a:solidFill>
                  <a:srgbClr val="ffd966"/>
                </a:solidFill>
                <a:latin typeface="Calibri"/>
                <a:ea typeface="Calibri"/>
              </a:rPr>
              <a:t>Seyahati Akıllı Hale Getiriyoruz</a:t>
            </a:r>
            <a:endParaRPr b="0" lang="tr-TR" sz="2100" spc="-1" strike="noStrike">
              <a:latin typeface="Arial"/>
            </a:endParaRPr>
          </a:p>
        </p:txBody>
      </p:sp>
      <p:sp>
        <p:nvSpPr>
          <p:cNvPr id="287" name="CustomShape 5"/>
          <p:cNvSpPr/>
          <p:nvPr/>
        </p:nvSpPr>
        <p:spPr>
          <a:xfrm>
            <a:off x="3474720" y="3108960"/>
            <a:ext cx="2194200" cy="63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CustomShape 6"/>
          <p:cNvSpPr/>
          <p:nvPr/>
        </p:nvSpPr>
        <p:spPr>
          <a:xfrm>
            <a:off x="1645920" y="3291840"/>
            <a:ext cx="585180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tr-TR" sz="2400" spc="-1" strike="noStrike">
                <a:solidFill>
                  <a:srgbClr val="ffffff"/>
                </a:solidFill>
                <a:latin typeface="Calibri"/>
                <a:ea typeface="Calibri"/>
              </a:rPr>
              <a:t>Teşekkürler </a:t>
            </a:r>
            <a:endParaRPr b="0" lang="tr-TR" sz="2400" spc="-1" strike="noStrike">
              <a:latin typeface="Arial"/>
            </a:endParaRPr>
          </a:p>
        </p:txBody>
      </p:sp>
      <p:sp>
        <p:nvSpPr>
          <p:cNvPr id="289" name="CustomShape 7"/>
          <p:cNvSpPr/>
          <p:nvPr/>
        </p:nvSpPr>
        <p:spPr>
          <a:xfrm>
            <a:off x="7498080" y="4204800"/>
            <a:ext cx="2710440" cy="927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Neat_Office/6.2.8.2$Windows_x86 LibreOffice_project/</Application>
  <Words>598</Words>
  <Paragraphs>158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2026-05-12T12:01:04Z</dcterms:created>
  <dc:creator>PptxGenJS</dc:creator>
  <dc:description/>
  <dc:language>tr-TR</dc:language>
  <cp:lastModifiedBy/>
  <dcterms:modified xsi:type="dcterms:W3CDTF">2026-06-24T00:33:22Z</dcterms:modified>
  <cp:revision>5</cp:revision>
  <dc:subject>PptxGenJS Presentation</dc:subject>
  <dc:title>smartTrip - Akıllı Gezi Planlama Uygulaması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9</vt:i4>
  </property>
  <property fmtid="{D5CDD505-2E9C-101B-9397-08002B2CF9AE}" pid="9" name="PresentationFormat">
    <vt:lpwstr>Ekran Gösterisi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9</vt:i4>
  </property>
</Properties>
</file>